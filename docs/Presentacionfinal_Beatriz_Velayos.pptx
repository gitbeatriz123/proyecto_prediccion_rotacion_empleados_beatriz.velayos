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77e1be0ec4d44" /><Relationship Type="http://schemas.openxmlformats.org/officeDocument/2006/relationships/extended-properties" Target="/docProps/app.xml" Id="R8912a992e0c54aa5" /><Relationship Type="http://schemas.openxmlformats.org/officeDocument/2006/relationships/officeDocument" Target="/ppt/presentation.xml" Id="R3012768465104b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ee6e08ca14a30"/>
  </p:sldMasterIdLst>
  <p:notesMasterIdLst>
    <p:notesMasterId xmlns:r="http://schemas.openxmlformats.org/officeDocument/2006/relationships" r:id="Rc18abee1cf904653"/>
  </p:notesMasterIdLst>
  <p:sldIdLst>
    <p:sldId xmlns:r="http://schemas.openxmlformats.org/officeDocument/2006/relationships" id="256" r:id="Rb7e3045f62f64186"/>
    <p:sldId xmlns:r="http://schemas.openxmlformats.org/officeDocument/2006/relationships" id="257" r:id="Reb87d4455d4f42bb"/>
    <p:sldId xmlns:r="http://schemas.openxmlformats.org/officeDocument/2006/relationships" id="258" r:id="R9af9561cf9ca4f48"/>
    <p:sldId xmlns:r="http://schemas.openxmlformats.org/officeDocument/2006/relationships" id="259" r:id="R62fd65e3b5ec40cb"/>
    <p:sldId xmlns:r="http://schemas.openxmlformats.org/officeDocument/2006/relationships" id="260" r:id="R0845afac9ab04004"/>
    <p:sldId xmlns:r="http://schemas.openxmlformats.org/officeDocument/2006/relationships" id="261" r:id="R518ef7a12fdc4a10"/>
    <p:sldId xmlns:r="http://schemas.openxmlformats.org/officeDocument/2006/relationships" id="262" r:id="R665b4b39c0044d57"/>
    <p:sldId xmlns:r="http://schemas.openxmlformats.org/officeDocument/2006/relationships" id="263" r:id="R866856b247ec449d"/>
    <p:sldId xmlns:r="http://schemas.openxmlformats.org/officeDocument/2006/relationships" id="264" r:id="Re2c65571406d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b3a690b164554" /><Relationship Type="http://schemas.openxmlformats.org/officeDocument/2006/relationships/slideMaster" Target="/ppt/slideMasters/slideMaster1.xml" Id="R920ee6e08ca14a30" /><Relationship Type="http://schemas.openxmlformats.org/officeDocument/2006/relationships/notesMaster" Target="/ppt/notesMasters/notesMaster1.xml" Id="Rc18abee1cf904653" /><Relationship Type="http://schemas.openxmlformats.org/officeDocument/2006/relationships/presProps" Target="/ppt/presProps.xml" Id="R397b1dcb6d35431f" /><Relationship Type="http://schemas.openxmlformats.org/officeDocument/2006/relationships/tableStyles" Target="/ppt/tableStyles.xml" Id="R6563394dc72e4259" /><Relationship Type="http://schemas.openxmlformats.org/officeDocument/2006/relationships/slide" Target="/ppt/slides/slide1.xml" Id="Rb7e3045f62f64186" /><Relationship Type="http://schemas.openxmlformats.org/officeDocument/2006/relationships/slide" Target="/ppt/slides/slide2.xml" Id="Reb87d4455d4f42bb" /><Relationship Type="http://schemas.openxmlformats.org/officeDocument/2006/relationships/slide" Target="/ppt/slides/slide3.xml" Id="R9af9561cf9ca4f48" /><Relationship Type="http://schemas.openxmlformats.org/officeDocument/2006/relationships/slide" Target="/ppt/slides/slide4.xml" Id="R62fd65e3b5ec40cb" /><Relationship Type="http://schemas.openxmlformats.org/officeDocument/2006/relationships/slide" Target="/ppt/slides/slide5.xml" Id="R0845afac9ab04004" /><Relationship Type="http://schemas.openxmlformats.org/officeDocument/2006/relationships/slide" Target="/ppt/slides/slide6.xml" Id="R518ef7a12fdc4a10" /><Relationship Type="http://schemas.openxmlformats.org/officeDocument/2006/relationships/slide" Target="/ppt/slides/slide7.xml" Id="R665b4b39c0044d57" /><Relationship Type="http://schemas.openxmlformats.org/officeDocument/2006/relationships/slide" Target="/ppt/slides/slide8.xml" Id="R866856b247ec449d" /><Relationship Type="http://schemas.openxmlformats.org/officeDocument/2006/relationships/slide" Target="/ppt/slides/slide9.xml" Id="Re2c65571406d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295aabb5e43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187e2463d4bfc" /><Relationship Type="http://schemas.openxmlformats.org/officeDocument/2006/relationships/notesMaster" Target="/ppt/notesMasters/notesMaster1.xml" Id="R42154cb701e5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b3807863ef41f6" /><Relationship Type="http://schemas.openxmlformats.org/officeDocument/2006/relationships/notesMaster" Target="/ppt/notesMasters/notesMaster1.xml" Id="R5ccd2b5875074b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026a17d8b45c8" /><Relationship Type="http://schemas.openxmlformats.org/officeDocument/2006/relationships/notesMaster" Target="/ppt/notesMasters/notesMaster1.xml" Id="R0f9f637254bb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f2a4f7c2874404" /><Relationship Type="http://schemas.openxmlformats.org/officeDocument/2006/relationships/notesMaster" Target="/ppt/notesMasters/notesMaster1.xml" Id="Rc1084fbd2f9c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58b35363d4be1" /><Relationship Type="http://schemas.openxmlformats.org/officeDocument/2006/relationships/notesMaster" Target="/ppt/notesMasters/notesMaster1.xml" Id="R1c6fbc6b6633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146ea24e654157" /><Relationship Type="http://schemas.openxmlformats.org/officeDocument/2006/relationships/notesMaster" Target="/ppt/notesMasters/notesMaster1.xml" Id="R1ab0a5fca4a34c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32852da44e4b18" /><Relationship Type="http://schemas.openxmlformats.org/officeDocument/2006/relationships/notesMaster" Target="/ppt/notesMasters/notesMaster1.xml" Id="R6c6abe15983c44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2aa37c4ffd4bcd" /><Relationship Type="http://schemas.openxmlformats.org/officeDocument/2006/relationships/notesMaster" Target="/ppt/notesMasters/notesMaster1.xml" Id="R9bf0d9f2a1b947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b3e678b496441e" /><Relationship Type="http://schemas.openxmlformats.org/officeDocument/2006/relationships/notesMaster" Target="/ppt/notesMasters/notesMaster1.xml" Id="Rf3007d717fb8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Proyecto educativo de bootcamp. La encuesta de clima es sintética. Los datos son de ejemplo y el modelo no está validado para uso laboral. No representa un sistema para decidir sobre empleados.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Presentar el alcance académico. Las métricas usan más de un protocolo y no deben compararse como una misma evaluación. No hay umbral operativo ni evidencia de impacto.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unión se realiza por EmployeeNumber. Evitar asegurar ausencia de errores sin revisar el informe generado. Spark ejecuta por defecto en local[*].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 regenerados con validación cruzada estratificada OOF de cinco particiones. ROC-AUC: LogReg 0,819; RF 0,810; MLP 0,768. F1 y umbral se optimizan sobre las mismas predicciones: resultados exploratorios.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Histograma de scores exportados. No interpretar como probabilidades calibradas ni como riesgo real de personas.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Tasas descriptivas agregadas del conjunto de referencia. No equivalen a hallazgos de la empresa.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Asociación descriptiva. No puede inferirse causalidad a partir de este gráfico.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Coeficientes de la regresión logística para las variables transformadas. Dependientes del preprocesamiento y del conjunto; no son efectos causales.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Limitaciones principales: sin validación independiente de las métricas; conjunto de demostración; métricas exploratorias; sin validación temporal, calibración, ni análisis formal de equidad. No emplear en decisiones de RRHH.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8e3939e394d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e4096ec664e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efb6755b649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adbdbf381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816dcc09b4f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8b59368d043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cccc8fb1b4d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ca305bc2947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0064618ed4c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3fb6916ed47c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9c5dcf2354d00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B045BEB-2A0E-4CE6-BB6B-54367B6FD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400B048-375F-4CCE-8677-D24244CEB6B0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534ED38-BE2E-4097-BF42-7AA9C1DD938A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1FA4F4A-79B3-4B01-83EB-FC6B69468BEF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1F15649-DE97-4D31-AB74-DF95F7F404A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D78EDD1-9F93-4766-A3B3-544BB64CE9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9818B03-43EF-471D-9B0F-806B50EAD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F42C79-D9B9-4690-810F-822A8E495F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F77D8B3-B6C4-49BF-A6ED-3FE7884837C6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C489B14-863F-47CC-8615-6159481E669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9841976-2504-4DC8-AC01-91F582216535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709F07B7-EBC3-4A18-A366-933C874466B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CB3FCA-F927-42AD-B435-F5CA19FF2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797F264-EB23-43F7-BE6E-A83A74F05C7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9C3D623-7E4C-4D4F-824F-A46044981564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B213CB-45ED-4265-8C41-9E860FD5EBEC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965281D-21E0-445E-99DC-518C9F0DCA7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992E60D-EFD5-41CD-9019-06F17E86CF4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CFB4A70-63BE-4A86-A10C-127F6FC51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98FA3C-7042-403B-B90B-40EBE66E00A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B205F6A-5C20-4B77-95E7-B2740AD564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B5B0793-ADFF-4280-B6C3-066C6341DF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51BCD72-C350-45DE-A806-71B42B577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8C8D860B-5ABB-4C55-8043-68CB8500841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0961491-152E-47B4-939A-009EC00CF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16C0524-F074-4195-9ABC-98B9DE1701F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E8FA829-DDDE-4DF0-BE5F-C05B90E155E9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986A44C-CCF3-4C02-A767-0AE0F7065A81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B575852-B480-47B1-AF79-D344823E13F2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EAE19106-4133-4231-94FB-64473ACB2E5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14DD276-B803-4018-91E0-6BB80ECF4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A342F0D-6E83-4C7E-BC83-B1FBDB4CD40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CFBB45A-9C1D-4EF6-B98A-7BF8BB6C719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671C9BC-98B0-4862-A610-93A68CF4EEC3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CBBAF7F-CBAB-41BA-9AAB-0F505B8FE1F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784BFED-57F1-4653-971E-7CF94B26411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00A58784-66A9-47C0-9CF9-FDDB1C8BC58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80C123-FAA4-448A-8E22-53E10D920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CC5637D-13A3-4136-90D9-F6F6CD6DBDC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6AC343F-E878-406D-A471-FA1D781A459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125F616-3D28-43B6-ABEC-D237CB2CD0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7BF1A16-8608-4169-BE57-69C17805DAD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1B7E583-6E2A-4252-ACFE-704DB359FB22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5A0CAC17-B7AE-456F-A878-2AC74A583D11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47DA26AF-F12C-49F1-B75B-09840EA8AF98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35B3173-9225-43C2-B209-5B9A286072F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763E7A-8BDF-42FF-B600-BE66D1690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0771A9F-5E40-4573-9443-2E1F837034F5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43924D9-BC3D-45AF-B5D7-5C4EC3730B0E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4D75C19-8865-496F-AD4D-BC0B9D7007B0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B541422-026A-41A2-BAA3-EBC9553034F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8E7E9AB-CCF8-494D-ABFF-C27AC1377C7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8EE9F77-FF91-4B8B-96EF-F856024B653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6DAC5DA-04CD-4738-B270-588C2F4099D9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AA15843-A8B0-48E9-8A97-4117540375DF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7DBD564E-998E-4A3F-9B53-86B1A84650E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CC96145-5E18-442F-8206-8CCBE2596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8FCCA03-DC70-43F0-B211-D832220AB5D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0C6F7FF-79BE-46BA-A83C-A90E3D078A3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D490194-C936-4503-BD7F-114BFB17D8D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BF7F858-C3B5-46C4-A560-1F4AAAB55EDF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8ADE7F9-C0F9-4A6D-B40F-06A871881BE2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E9DCBC23-3989-4AE8-8C0A-65784AA9C6E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0C4AF98-3128-411F-810B-BA781B94E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A23D7E5-3E3C-43B6-81C3-F4192842F55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B590483-0173-4F5A-A9DB-A1697C5705D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FCDFBF4-C5D0-486D-ACE0-36AACB5416C5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AB82F94-296D-4143-80A5-113DD2E90BC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7A44C1D1-164F-4C15-8894-A44C7F4732EE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98B274AD-299F-487E-9729-FFC20C074CA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530f945bc4dad" /><Relationship Type="http://schemas.openxmlformats.org/officeDocument/2006/relationships/slideLayout" Target="/ppt/slideLayouts/slideLayout1.xml" Id="Rdec6cc169e3f40d0" /><Relationship Type="http://schemas.openxmlformats.org/officeDocument/2006/relationships/slideLayout" Target="/ppt/slideLayouts/slideLayout2.xml" Id="R4f797e11bad64a4c" /><Relationship Type="http://schemas.openxmlformats.org/officeDocument/2006/relationships/slideLayout" Target="/ppt/slideLayouts/slideLayout3.xml" Id="R94c73a1da7434a29" /><Relationship Type="http://schemas.openxmlformats.org/officeDocument/2006/relationships/slideLayout" Target="/ppt/slideLayouts/slideLayout4.xml" Id="R7ac09b0daafc47b5" /><Relationship Type="http://schemas.openxmlformats.org/officeDocument/2006/relationships/slideLayout" Target="/ppt/slideLayouts/slideLayout5.xml" Id="R7eabc3fee0c34e4c" /><Relationship Type="http://schemas.openxmlformats.org/officeDocument/2006/relationships/slideLayout" Target="/ppt/slideLayouts/slideLayout6.xml" Id="Ra4d9156aeae34ca5" /><Relationship Type="http://schemas.openxmlformats.org/officeDocument/2006/relationships/slideLayout" Target="/ppt/slideLayouts/slideLayout7.xml" Id="R997c6cc9931e49f2" /><Relationship Type="http://schemas.openxmlformats.org/officeDocument/2006/relationships/slideLayout" Target="/ppt/slideLayouts/slideLayout8.xml" Id="Rcffce90afeec42c1" /><Relationship Type="http://schemas.openxmlformats.org/officeDocument/2006/relationships/slideLayout" Target="/ppt/slideLayouts/slideLayout9.xml" Id="Rbed39a8dd11847fc" /><Relationship Type="http://schemas.openxmlformats.org/officeDocument/2006/relationships/slideLayout" Target="/ppt/slideLayouts/slideLayout10.xml" Id="R487314aae1e74eff" /><Relationship Type="http://schemas.openxmlformats.org/officeDocument/2006/relationships/slideLayout" Target="/ppt/slideLayouts/slideLayout11.xml" Id="R493e122bdf8d450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6cc169e3f40d0"/>
    <p:sldLayoutId xmlns:r="http://schemas.openxmlformats.org/officeDocument/2006/relationships" id="2147483650" r:id="R4f797e11bad64a4c"/>
    <p:sldLayoutId xmlns:r="http://schemas.openxmlformats.org/officeDocument/2006/relationships" id="2147483651" r:id="R94c73a1da7434a29"/>
    <p:sldLayoutId xmlns:r="http://schemas.openxmlformats.org/officeDocument/2006/relationships" id="2147483652" r:id="R7ac09b0daafc47b5"/>
    <p:sldLayoutId xmlns:r="http://schemas.openxmlformats.org/officeDocument/2006/relationships" id="2147483653" r:id="R7eabc3fee0c34e4c"/>
    <p:sldLayoutId xmlns:r="http://schemas.openxmlformats.org/officeDocument/2006/relationships" id="2147483654" r:id="Ra4d9156aeae34ca5"/>
    <p:sldLayoutId xmlns:r="http://schemas.openxmlformats.org/officeDocument/2006/relationships" id="2147483655" r:id="R997c6cc9931e49f2"/>
    <p:sldLayoutId xmlns:r="http://schemas.openxmlformats.org/officeDocument/2006/relationships" id="2147483656" r:id="Rcffce90afeec42c1"/>
    <p:sldLayoutId xmlns:r="http://schemas.openxmlformats.org/officeDocument/2006/relationships" id="2147483657" r:id="Rbed39a8dd11847fc"/>
    <p:sldLayoutId xmlns:r="http://schemas.openxmlformats.org/officeDocument/2006/relationships" id="2147483658" r:id="R487314aae1e74eff"/>
    <p:sldLayoutId xmlns:r="http://schemas.openxmlformats.org/officeDocument/2006/relationships" id="2147483659" r:id="R493e122bdf8d450d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a92ac169c4ebe" /><Relationship Type="http://schemas.openxmlformats.org/officeDocument/2006/relationships/notesSlide" Target="/ppt/notesSlides/notesSlide1.xml" Id="R67c82b0072eb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ab232b074b4a53" /><Relationship Type="http://schemas.openxmlformats.org/officeDocument/2006/relationships/notesSlide" Target="/ppt/notesSlides/notesSlide2.xml" Id="R3487ae0d653b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112d944006449e7" /><Relationship Type="http://schemas.openxmlformats.org/officeDocument/2006/relationships/notesSlide" Target="/ppt/notesSlides/notesSlide3.xml" Id="Rac2c31057692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29ef389f9494e11" /><Relationship Type="http://schemas.openxmlformats.org/officeDocument/2006/relationships/image" Target="/ppt/media/image.png" Id="R3b8d19d532854d61" /><Relationship Type="http://schemas.openxmlformats.org/officeDocument/2006/relationships/notesSlide" Target="/ppt/notesSlides/notesSlide4.xml" Id="Rc37c7f404d8e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4af60c994d4ed9" /><Relationship Type="http://schemas.openxmlformats.org/officeDocument/2006/relationships/image" Target="/ppt/media/image2.png" Id="R0d4ab046ff3d4cc9" /><Relationship Type="http://schemas.openxmlformats.org/officeDocument/2006/relationships/notesSlide" Target="/ppt/notesSlides/notesSlide5.xml" Id="Rd5080348a6404a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49f4600ab514d69" /><Relationship Type="http://schemas.openxmlformats.org/officeDocument/2006/relationships/image" Target="/ppt/media/image3.png" Id="R79c70b4dc4b24651" /><Relationship Type="http://schemas.openxmlformats.org/officeDocument/2006/relationships/notesSlide" Target="/ppt/notesSlides/notesSlide6.xml" Id="R00ce34cea1d3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75df8c87ad34802" /><Relationship Type="http://schemas.openxmlformats.org/officeDocument/2006/relationships/image" Target="/ppt/media/image4.png" Id="R6e0fc8d224ac4fe6" /><Relationship Type="http://schemas.openxmlformats.org/officeDocument/2006/relationships/notesSlide" Target="/ppt/notesSlides/notesSlide7.xml" Id="R3bda6334eaa04e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78023c6bad45c2" /><Relationship Type="http://schemas.openxmlformats.org/officeDocument/2006/relationships/image" Target="/ppt/media/image5.png" Id="R06fcd7290743433c" /><Relationship Type="http://schemas.openxmlformats.org/officeDocument/2006/relationships/notesSlide" Target="/ppt/notesSlides/notesSlide8.xml" Id="Raf0a9c9c05a946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7146bd632a4e6d" /><Relationship Type="http://schemas.openxmlformats.org/officeDocument/2006/relationships/notesSlide" Target="/ppt/notesSlides/notesSlide9.xml" Id="R050d88cecb024b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23A367D-FD84-49F8-AF2D-0779481DB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Predicción de rotación de empleados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C53B876-F98F-455F-8CFD-759CAEFF3F88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371600" y="3886200"/>
            <a:ext cx="6400440" cy="175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Proyecto educativo · PySpark · scikit-learn · Power BI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250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A80CDC-29D0-442F-8406-74BEDDE2A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Alcance del proyecto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A351A14-C962-45F2-863E-8C30FDD9AA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Ejercicio académico de clasificación binaria con datos de ejemplo.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Integración y preparación con PySpark; evaluación con scikit-learn.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Comparación exploratoria de Regresión Logística, Random Forest y MLP.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Validación cruzada y partición holdout aparecen en resultados distintos.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Prototipo Power BI y visualizaciones descriptivas.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Sin uso operativo ni decisiones sobre empleados.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11130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B6FCB5-5C27-4A40-86A2-B59AFB49E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Flujo de trabajo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42B893-A08C-465F-AA27-8DC6A08487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Comprobaciones de calidad y unión por EmployeeNumber.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ETL con PySpark y creación de variables derivadas.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Modelado con regresión logística, Random Forest y MLP.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Métricas: ROC-AUC, PR-AUC y F1; protocolos documentados por separado.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Exportación de artefactos para análisis educativo.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• No es un modelo validado para una organización real.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375338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1" name="PlaceHolder 1">
            <a:extLst>
              <a:ext uri="{FF2B5EF4-FFF2-40B4-BE49-F238E27FC236}">
                <ns2:creationId id="{65E0130A-3CA4-4060-A9FD-904D0A35ECF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620000" y="11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Métricas exploratorias · LogReg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6" name="Picture 2"/>
          <p:cNvPicPr>
            <a:picLocks noChangeAspect="1"/>
          </p:cNvPicPr>
          <p:nvPr/>
        </p:nvPicPr>
        <p:blipFill>
          <a:blip ns3:embed="R3b8d19d532854d61"/>
          <a:srcRect l="10091" t="0" r="10091" b="0"/>
          <a:stretch>
            <a:fillRect l="0" t="0" r="0" b="0"/>
          </a:stretch>
        </p:blipFill>
        <p:spPr>
          <a:xfrm>
            <a:off x="2552700" y="960000"/>
            <a:ext cx="7086600" cy="5011000"/>
          </a:xfrm>
          <a:prstGeom prst="rect">
            <a:avLst/>
          </a:prstGeom>
          <a:ln w="0">
            <a:noFill/>
          </a:ln>
        </p:spPr>
      </p:pic>
      <p:sp>
        <p:nvSpPr>
          <p:cNvPr id="73" name="TextBox 3">
            <a:extLst>
              <a:ext uri="{FF2B5EF4-FFF2-40B4-BE49-F238E27FC236}">
                <ns2:creationId id="{D179EA43-F748-45D7-9F30-071F40E196A0}"/>
              </a:ext>
            </a:extLst>
          </p:cNvPr>
          <p:cNvSpPr>
            <a:spLocks noGrp="1"/>
          </p:cNvSpPr>
          <p:nvPr/>
        </p:nvSpPr>
        <p:spPr>
          <a:xfrm>
            <a:off x="365760" y="6263640"/>
            <a:ext cx="114598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CV OOF (5 particiones): ROC-AUC 0,819 · PR-AUC 0,552 · F1* 0,533. *Umbral optimizado en las mismas predicciones.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4:creationId val="150715245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4" name="PlaceHolder 1">
            <a:extLst>
              <a:ext uri="{FF2B5EF4-FFF2-40B4-BE49-F238E27FC236}">
                <ns2:creationId id="{2D52C905-F951-4F11-BF40-C3409FEC2BF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07960" y="131400"/>
            <a:ext cx="11242800" cy="12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Distribución de scores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9" name="Picture 2"/>
          <p:cNvPicPr>
            <a:picLocks noChangeAspect="1"/>
          </p:cNvPicPr>
          <p:nvPr/>
        </p:nvPicPr>
        <p:blipFill>
          <a:blip ns3:embed="R0d4ab046ff3d4cc9"/>
          <a:srcRect l="0" t="2" r="0" b="2"/>
          <a:stretch>
            <a:fillRect l="0" t="0" r="0" b="0"/>
          </a:stretch>
        </p:blipFill>
        <p:spPr>
          <a:xfrm>
            <a:off x="2552700" y="960000"/>
            <a:ext cx="7086600" cy="5011000"/>
          </a:xfrm>
          <a:prstGeom prst="rect">
            <a:avLst/>
          </a:prstGeom>
          <a:ln w="0">
            <a:noFill/>
          </a:ln>
        </p:spPr>
      </p:pic>
      <p:sp>
        <p:nvSpPr>
          <p:cNvPr id="76" name="TextBox 3">
            <a:extLst>
              <a:ext uri="{FF2B5EF4-FFF2-40B4-BE49-F238E27FC236}">
                <ns2:creationId id="{D89E5E77-4B58-410D-B4A2-D67E59D88B59}"/>
              </a:ext>
            </a:extLst>
          </p:cNvPr>
          <p:cNvSpPr>
            <a:spLocks noGrp="1"/>
          </p:cNvSpPr>
          <p:nvPr/>
        </p:nvSpPr>
        <p:spPr>
          <a:xfrm>
            <a:off x="365760" y="6263640"/>
            <a:ext cx="114598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Scores descriptivos; no calibrados ni referidos a personas reales.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4:creationId val="30350565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7" name="PlaceHolder 1">
            <a:extLst>
              <a:ext uri="{FF2B5EF4-FFF2-40B4-BE49-F238E27FC236}">
                <ns2:creationId id="{68DF6AE7-B196-4300-BDC9-E0722C6EA25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37200" y="180000"/>
            <a:ext cx="10522800" cy="80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Rotación observada por departamento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2" name="Picture 2"/>
          <p:cNvPicPr>
            <a:picLocks noChangeAspect="1"/>
          </p:cNvPicPr>
          <p:nvPr/>
        </p:nvPicPr>
        <p:blipFill>
          <a:blip ns3:embed="R79c70b4dc4b24651"/>
          <a:srcRect l="0" t="2" r="0" b="2"/>
          <a:stretch>
            <a:fillRect l="0" t="0" r="0" b="0"/>
          </a:stretch>
        </p:blipFill>
        <p:spPr>
          <a:xfrm>
            <a:off x="2552700" y="960000"/>
            <a:ext cx="7086600" cy="5011000"/>
          </a:xfrm>
          <a:prstGeom prst="rect">
            <a:avLst/>
          </a:prstGeom>
          <a:ln w="0">
            <a:noFill/>
          </a:ln>
        </p:spPr>
      </p:pic>
      <p:sp>
        <p:nvSpPr>
          <p:cNvPr id="79" name="TextBox 3">
            <a:extLst>
              <a:ext uri="{FF2B5EF4-FFF2-40B4-BE49-F238E27FC236}">
                <ns2:creationId id="{8BD09EE3-65E6-4BF7-8BB4-A3EB9FD7A8CC}"/>
              </a:ext>
            </a:extLst>
          </p:cNvPr>
          <p:cNvSpPr>
            <a:spLocks noGrp="1"/>
          </p:cNvSpPr>
          <p:nvPr/>
        </p:nvSpPr>
        <p:spPr>
          <a:xfrm>
            <a:off x="360000" y="6263640"/>
            <a:ext cx="114598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Datos de ejemplo; asociación descriptiva, no causal.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4:creationId val="167269102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0" name="PlaceHolder 1">
            <a:extLst>
              <a:ext uri="{FF2B5EF4-FFF2-40B4-BE49-F238E27FC236}">
                <ns2:creationId id="{34C86444-1BAA-4375-A625-51721868B14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180000"/>
            <a:ext cx="11242800" cy="80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Rotación observada y horas extra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5" name="Picture 2"/>
          <p:cNvPicPr>
            <a:picLocks noChangeAspect="1"/>
          </p:cNvPicPr>
          <p:nvPr/>
        </p:nvPicPr>
        <p:blipFill>
          <a:blip ns3:embed="R6e0fc8d224ac4fe6"/>
          <a:srcRect l="0" t="2" r="0" b="2"/>
          <a:stretch>
            <a:fillRect l="0" t="0" r="0" b="0"/>
          </a:stretch>
        </p:blipFill>
        <p:spPr>
          <a:xfrm>
            <a:off x="2552700" y="960000"/>
            <a:ext cx="7086600" cy="5011000"/>
          </a:xfrm>
          <a:prstGeom prst="rect">
            <a:avLst/>
          </a:prstGeom>
          <a:ln w="0">
            <a:noFill/>
          </a:ln>
        </p:spPr>
      </p:pic>
      <p:sp>
        <p:nvSpPr>
          <p:cNvPr id="82" name="TextBox 3">
            <a:extLst>
              <a:ext uri="{FF2B5EF4-FFF2-40B4-BE49-F238E27FC236}">
                <ns2:creationId id="{3DBC67BC-AB62-47CE-B97D-EBE84C4AEF3A}"/>
              </a:ext>
            </a:extLst>
          </p:cNvPr>
          <p:cNvSpPr>
            <a:spLocks noGrp="1"/>
          </p:cNvSpPr>
          <p:nvPr/>
        </p:nvSpPr>
        <p:spPr>
          <a:xfrm>
            <a:off x="263880" y="6263640"/>
            <a:ext cx="114598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Asociación descriptiva; no causal ni aplicable a una plantilla real.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4:creationId val="146178721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3" name="PlaceHolder 1">
            <a:extLst>
              <a:ext uri="{FF2B5EF4-FFF2-40B4-BE49-F238E27FC236}">
                <ns2:creationId id="{485DE502-EFBA-44FD-BADB-C6C68143625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17200" y="0"/>
            <a:ext cx="11062800" cy="98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Coeficientes del modelo LogReg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8" name="Picture 2"/>
          <p:cNvPicPr>
            <a:picLocks noChangeAspect="1"/>
          </p:cNvPicPr>
          <p:nvPr/>
        </p:nvPicPr>
        <p:blipFill>
          <a:blip ns3:embed="R06fcd7290743433c"/>
          <a:srcRect l="0" t="2" r="0" b="2"/>
          <a:stretch>
            <a:fillRect l="0" t="0" r="0" b="0"/>
          </a:stretch>
        </p:blipFill>
        <p:spPr>
          <a:xfrm>
            <a:off x="2552700" y="960000"/>
            <a:ext cx="7086600" cy="5011000"/>
          </a:xfrm>
          <a:prstGeom prst="rect">
            <a:avLst/>
          </a:prstGeom>
          <a:ln w="0">
            <a:noFill/>
          </a:ln>
        </p:spPr>
      </p:pic>
      <p:sp>
        <p:nvSpPr>
          <p:cNvPr id="85" name="TextBox 3">
            <a:extLst>
              <a:ext uri="{FF2B5EF4-FFF2-40B4-BE49-F238E27FC236}">
                <ns2:creationId id="{AF3E641E-B559-4B63-B439-358EDFBBC910}"/>
              </a:ext>
            </a:extLst>
          </p:cNvPr>
          <p:cNvSpPr>
            <a:spLocks noGrp="1"/>
          </p:cNvSpPr>
          <p:nvPr/>
        </p:nvSpPr>
        <p:spPr>
          <a:xfrm>
            <a:off x="302040" y="6263640"/>
            <a:ext cx="1145988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Asociaciones del modelo; no son efectos causales.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ns4:creationId val="782406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7F62F03-CE33-4FE9-9DF1-F95A7525F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Limitaciones y siguientes pasos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0B9206-BCA7-49C5-B770-F20910E47C4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La encuesta de clima es sintética y reproducible; no representa respuestas reales.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Separar conjuntos y protocolos de evaluación de forma reproducible.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Realizar validación independiente y temporal antes de cualquier afirmación predictiva.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Revisar calibración, privacidad y equidad con datos apropiados.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Mantener el proyecto como demostración educativa, sin decisiones laborales.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397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2026-10-04T16:50:29.7220000Z</dcterms:created>
  <dcterms:modified xsi:type="dcterms:W3CDTF">2026-10-04T16:50:29.7220000Z</dcterms:modified>
</coreProperties>
</file>