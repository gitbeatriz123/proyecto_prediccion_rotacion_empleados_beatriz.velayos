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4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1ce5e914134647" /><Relationship Type="http://schemas.openxmlformats.org/officeDocument/2006/relationships/extended-properties" Target="/docProps/app.xml" Id="Ra808cc4cd0934182" /><Relationship Type="http://schemas.openxmlformats.org/officeDocument/2006/relationships/officeDocument" Target="/ppt/presentation.xml" Id="Rb54198be78944c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95712d3e9c4622"/>
  </p:sldMasterIdLst>
  <p:notesMasterIdLst>
    <p:notesMasterId xmlns:r="http://schemas.openxmlformats.org/officeDocument/2006/relationships" r:id="R0210aece5b924039"/>
  </p:notesMasterIdLst>
  <p:sldIdLst>
    <p:sldId xmlns:r="http://schemas.openxmlformats.org/officeDocument/2006/relationships" id="256" r:id="R7e1e055751264d38"/>
    <p:sldId xmlns:r="http://schemas.openxmlformats.org/officeDocument/2006/relationships" id="257" r:id="R721fb7071fda4235"/>
    <p:sldId xmlns:r="http://schemas.openxmlformats.org/officeDocument/2006/relationships" id="258" r:id="Rff67c811c1c44bd3"/>
    <p:sldId xmlns:r="http://schemas.openxmlformats.org/officeDocument/2006/relationships" id="259" r:id="R6a5650646ffd4f18"/>
    <p:sldId xmlns:r="http://schemas.openxmlformats.org/officeDocument/2006/relationships" id="260" r:id="Rd52db7f731c44942"/>
    <p:sldId xmlns:r="http://schemas.openxmlformats.org/officeDocument/2006/relationships" id="261" r:id="Re20522e428814c2f"/>
    <p:sldId xmlns:r="http://schemas.openxmlformats.org/officeDocument/2006/relationships" id="262" r:id="Rdaa57608416f41aa"/>
    <p:sldId xmlns:r="http://schemas.openxmlformats.org/officeDocument/2006/relationships" id="263" r:id="Rf0b5121bd8d54fb3"/>
    <p:sldId xmlns:r="http://schemas.openxmlformats.org/officeDocument/2006/relationships" id="264" r:id="Rb2f1896b587c460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9ee5e22f6c4e4a" /><Relationship Type="http://schemas.openxmlformats.org/officeDocument/2006/relationships/slideMaster" Target="/ppt/slideMasters/slideMaster1.xml" Id="R9695712d3e9c4622" /><Relationship Type="http://schemas.openxmlformats.org/officeDocument/2006/relationships/notesMaster" Target="/ppt/notesMasters/notesMaster1.xml" Id="R0210aece5b924039" /><Relationship Type="http://schemas.openxmlformats.org/officeDocument/2006/relationships/presProps" Target="/ppt/presProps.xml" Id="R9e238319a9664782" /><Relationship Type="http://schemas.openxmlformats.org/officeDocument/2006/relationships/tableStyles" Target="/ppt/tableStyles.xml" Id="R2e0e5e98ecf34bec" /><Relationship Type="http://schemas.openxmlformats.org/officeDocument/2006/relationships/slide" Target="/ppt/slides/slide1.xml" Id="R7e1e055751264d38" /><Relationship Type="http://schemas.openxmlformats.org/officeDocument/2006/relationships/slide" Target="/ppt/slides/slide2.xml" Id="R721fb7071fda4235" /><Relationship Type="http://schemas.openxmlformats.org/officeDocument/2006/relationships/slide" Target="/ppt/slides/slide3.xml" Id="Rff67c811c1c44bd3" /><Relationship Type="http://schemas.openxmlformats.org/officeDocument/2006/relationships/slide" Target="/ppt/slides/slide4.xml" Id="R6a5650646ffd4f18" /><Relationship Type="http://schemas.openxmlformats.org/officeDocument/2006/relationships/slide" Target="/ppt/slides/slide5.xml" Id="Rd52db7f731c44942" /><Relationship Type="http://schemas.openxmlformats.org/officeDocument/2006/relationships/slide" Target="/ppt/slides/slide6.xml" Id="Re20522e428814c2f" /><Relationship Type="http://schemas.openxmlformats.org/officeDocument/2006/relationships/slide" Target="/ppt/slides/slide7.xml" Id="Rdaa57608416f41aa" /><Relationship Type="http://schemas.openxmlformats.org/officeDocument/2006/relationships/slide" Target="/ppt/slides/slide8.xml" Id="Rf0b5121bd8d54fb3" /><Relationship Type="http://schemas.openxmlformats.org/officeDocument/2006/relationships/slide" Target="/ppt/slides/slide9.xml" Id="Rb2f1896b587c460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12d911a38b646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a2c8441661433c" /><Relationship Type="http://schemas.openxmlformats.org/officeDocument/2006/relationships/notesMaster" Target="/ppt/notesMasters/notesMaster1.xml" Id="R14177e9a283c4d2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a2675bb0bb40f8" /><Relationship Type="http://schemas.openxmlformats.org/officeDocument/2006/relationships/notesMaster" Target="/ppt/notesMasters/notesMaster1.xml" Id="Rdaef5866009d488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e0b4cdee0994d59" /><Relationship Type="http://schemas.openxmlformats.org/officeDocument/2006/relationships/notesMaster" Target="/ppt/notesMasters/notesMaster1.xml" Id="R3cb50814dfcd457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6be87d70f84c94" /><Relationship Type="http://schemas.openxmlformats.org/officeDocument/2006/relationships/notesMaster" Target="/ppt/notesMasters/notesMaster1.xml" Id="R3491972d5586459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9b57909267484a" /><Relationship Type="http://schemas.openxmlformats.org/officeDocument/2006/relationships/notesMaster" Target="/ppt/notesMasters/notesMaster1.xml" Id="R07622e3e7e5e4d3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5b14e41d7a2430a" /><Relationship Type="http://schemas.openxmlformats.org/officeDocument/2006/relationships/notesMaster" Target="/ppt/notesMasters/notesMaster1.xml" Id="R44fc38df87b24cb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a418ab8a2184969" /><Relationship Type="http://schemas.openxmlformats.org/officeDocument/2006/relationships/notesMaster" Target="/ppt/notesMasters/notesMaster1.xml" Id="R145f9b558aa040b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7096974bc6246be" /><Relationship Type="http://schemas.openxmlformats.org/officeDocument/2006/relationships/notesMaster" Target="/ppt/notesMasters/notesMaster1.xml" Id="Ra414fd74f2ff4b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8a7cea71c7345e6" /><Relationship Type="http://schemas.openxmlformats.org/officeDocument/2006/relationships/notesMaster" Target="/ppt/notesMasters/notesMaster1.xml" Id="R00c9244bb99645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Proyecto educativo sobre integración de datos y clasificación de rotación. Los conjuntos son de ejemplo. No representa una herramienta de decisión laboral.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El proyecto compara tres clasificadores con datos de ejemplo y muestra un prototipo de panel descriptivo.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El proceso revisa calidad y claves, genera la encuesta sintética con semilla fija, ejecuta el ETL, entrena los modelos y exporta resultados.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regresión logística obtiene la mayor ROC-AUC, mientras el bosque aleatorio alcanza el F1 optimizado más alto. El ajuste del umbral usa las mismas predicciones OOF, por lo que el F1 es exploratorio.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El histograma presenta 1.470 puntuaciones OOF de la regresión logística agrupadas en intervalos de una décima. No son probabilidades calibradas.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Ventas presenta 20,6 % de rotación observada, Recursos Humanos 19,0 % e Investigación y Desarrollo 13,8 %. Los porcentajes son descriptivos del conjunto de ejemplo.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tasa observada es 30,5 % entre los registros con horas extra y 10,4 % entre los registros sin ellas. Esta comparación no demuestra causalidad.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Los coeficientes proceden de la regresión logística ajustada sobre todas las filas tras evaluar el protocolo OOF. Señalan asociaciones aprendidas por el modelo, no causas.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indent="0">
              <a:lnSpc>
                <a:spcPct val="100000"/>
              </a:lnSpc>
              <a:buNone/>
            </a:pPr>
            <a:r>
              <a:rPr sz="2000" b="0" u="none">
                <a:solidFill>
                  <a:srgbClr val="000000"/>
                </a:solidFill>
                <a:latin typeface="Arial"/>
                <a:ea typeface="Arial"/>
                <a:cs typeface="Arial"/>
              </a:rPr>
              <a:t>La regresión logística obtiene la mejor ROC-AUC y PR-AUC; el bosque aleatorio logra el mayor F1 con umbral ajustado. La encuesta es sintética y no hay validación independiente, temporal ni formal de equidad.</a:t>
            </a:r>
            <a:endParaRPr sz="20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464345825840a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ec4d9de84544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066b488e2a425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5cdf1afb34489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88667696ac4cf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e97ead91d34fe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9389d4a8d64ce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d2512c78d84de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c89144f9214d6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758a90a069419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83ec65f5ec4258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B045BEB-2A0E-4CE6-BB6B-54367B6FD4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400B048-375F-4CCE-8677-D24244CEB6B0}"/>
              </a:ext>
            </a:extLst>
          </p:cNvPr>
          <p:cNvSpPr>
            <a:spLocks xmlns:a="http://schemas.openxmlformats.org/drawingml/2006/main" noGrp="1"/>
          </p:cNvSpPr>
          <p:nvPr>
            <p:ph type="dt" idx="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534ED38-BE2E-4097-BF42-7AA9C1DD938A}"/>
              </a:ext>
            </a:extLst>
          </p:cNvPr>
          <p:cNvSpPr>
            <a:spLocks xmlns:a="http://schemas.openxmlformats.org/drawingml/2006/main" noGrp="1"/>
          </p:cNvSpPr>
          <p:nvPr>
            <p:ph type="ftr" idx="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E1FA4F4A-79B3-4B01-83EB-FC6B69468BEF}"/>
              </a:ext>
            </a:extLst>
          </p:cNvPr>
          <p:cNvSpPr>
            <a:spLocks xmlns:a="http://schemas.openxmlformats.org/drawingml/2006/main" noGrp="1"/>
          </p:cNvSpPr>
          <p:nvPr>
            <p:ph type="sldNum" idx="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C1F15649-DE97-4D31-AB74-DF95F7F404A2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ED78EDD1-9F93-4766-A3B3-544BB64CE98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2.xml><?xml version="1.0" encoding="utf-8"?>
<p:sldLayout xmlns:p="http://schemas.openxmlformats.org/presentationml/2006/main" type="vertTx" preserve="1">
  <p:cSld name="Title and Vertical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C9818B03-43EF-471D-9B0F-806B50EAD5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8F42C79-D9B9-4690-810F-822A8E495F0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4F77D8B3-B6C4-49BF-A6ED-3FE7884837C6}"/>
              </a:ext>
            </a:extLst>
          </p:cNvPr>
          <p:cNvSpPr>
            <a:spLocks xmlns:a="http://schemas.openxmlformats.org/drawingml/2006/main" noGrp="1"/>
          </p:cNvSpPr>
          <p:nvPr>
            <p:ph type="dt" idx="4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C489B14-863F-47CC-8615-6159481E6697}"/>
              </a:ext>
            </a:extLst>
          </p:cNvPr>
          <p:cNvSpPr>
            <a:spLocks xmlns:a="http://schemas.openxmlformats.org/drawingml/2006/main" noGrp="1"/>
          </p:cNvSpPr>
          <p:nvPr>
            <p:ph type="ftr" idx="5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A9841976-2504-4DC8-AC01-91F582216535}"/>
              </a:ext>
            </a:extLst>
          </p:cNvPr>
          <p:cNvSpPr>
            <a:spLocks xmlns:a="http://schemas.openxmlformats.org/drawingml/2006/main" noGrp="1"/>
          </p:cNvSpPr>
          <p:nvPr>
            <p:ph type="sldNum" idx="6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09F07B7-EBC3-4A18-A366-933C874466B9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3.xml><?xml version="1.0" encoding="utf-8"?>
<p:sldLayout xmlns:p="http://schemas.openxmlformats.org/presentationml/2006/main" type="vertTitleAndTx" preserve="1">
  <p:cSld name="Vertical Title and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5CB3FCA-F927-42AD-B435-F5CA19FF2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80"/>
            <a:ext cx="205704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797F264-EB23-43F7-BE6E-A83A74F05C7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74680"/>
            <a:ext cx="601956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D9C3D623-7E4C-4D4F-824F-A46044981564}"/>
              </a:ext>
            </a:extLst>
          </p:cNvPr>
          <p:cNvSpPr>
            <a:spLocks xmlns:a="http://schemas.openxmlformats.org/drawingml/2006/main" noGrp="1"/>
          </p:cNvSpPr>
          <p:nvPr>
            <p:ph type="dt" idx="7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EB213CB-45ED-4265-8C41-9E860FD5EBEC}"/>
              </a:ext>
            </a:extLst>
          </p:cNvPr>
          <p:cNvSpPr>
            <a:spLocks xmlns:a="http://schemas.openxmlformats.org/drawingml/2006/main" noGrp="1"/>
          </p:cNvSpPr>
          <p:nvPr>
            <p:ph type="ftr" idx="8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F965281D-21E0-445E-99DC-518C9F0DCA75}"/>
              </a:ext>
            </a:extLst>
          </p:cNvPr>
          <p:cNvSpPr>
            <a:spLocks xmlns:a="http://schemas.openxmlformats.org/drawingml/2006/main" noGrp="1"/>
          </p:cNvSpPr>
          <p:nvPr>
            <p:ph type="sldNum" idx="9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992E60D-EFD5-41CD-9019-06F17E86CF4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4.xml><?xml version="1.0" encoding="utf-8"?>
<p:sldLayout xmlns:p="http://schemas.openxmlformats.org/presentationml/2006/main" type="obj" preserve="1">
  <p:cSld name="Title and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CFB4A70-63BE-4A86-A10C-127F6FC519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D98FA3C-7042-403B-B90B-40EBE66E00AF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B205F6A-5C20-4B77-95E7-B2740AD564E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3B5B0793-ADFF-4280-B6C3-066C6341DF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651BCD72-C350-45DE-A806-71B42B5776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8C8D860B-5ABB-4C55-8043-68CB8500841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5.xml><?xml version="1.0" encoding="utf-8"?>
<p:sldLayout xmlns:p="http://schemas.openxmlformats.org/presentationml/2006/main" type="blank" preserve="1">
  <p:cSld name="Section Head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0961491-152E-47B4-939A-009EC00CFB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160" y="4406760"/>
            <a:ext cx="7772040" cy="13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4000" b="1" u="none" cap="all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16C0524-F074-4195-9ABC-98B9DE1701F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722160" y="2906640"/>
            <a:ext cx="7772040" cy="149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sz="20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E8FA829-DDDE-4DF0-BE5F-C05B90E155E9}"/>
              </a:ext>
            </a:extLst>
          </p:cNvPr>
          <p:cNvSpPr>
            <a:spLocks xmlns:a="http://schemas.openxmlformats.org/drawingml/2006/main" noGrp="1"/>
          </p:cNvSpPr>
          <p:nvPr>
            <p:ph type="dt" idx="13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986A44C-CCF3-4C02-A767-0AE0F7065A81}"/>
              </a:ext>
            </a:extLst>
          </p:cNvPr>
          <p:cNvSpPr>
            <a:spLocks xmlns:a="http://schemas.openxmlformats.org/drawingml/2006/main" noGrp="1"/>
          </p:cNvSpPr>
          <p:nvPr>
            <p:ph type="ftr" idx="14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4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CB575852-B480-47B1-AF79-D344823E13F2}"/>
              </a:ext>
            </a:extLst>
          </p:cNvPr>
          <p:cNvSpPr>
            <a:spLocks xmlns:a="http://schemas.openxmlformats.org/drawingml/2006/main" noGrp="1"/>
          </p:cNvSpPr>
          <p:nvPr>
            <p:ph type="sldNum" idx="15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AE19106-4133-4231-94FB-64473ACB2E5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6.xml><?xml version="1.0" encoding="utf-8"?>
<p:sldLayout xmlns:p="http://schemas.openxmlformats.org/presentationml/2006/main" type="twoObj" preserve="1">
  <p:cSld name="Two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14DD276-B803-4018-91E0-6BB80ECF40F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9A342F0D-6E83-4C7E-BC83-B1FBDB4CD40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5CFBB45A-9C1D-4EF6-B98A-7BF8BB6C719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832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671C9BC-98B0-4862-A610-93A68CF4EEC3}"/>
              </a:ext>
            </a:extLst>
          </p:cNvPr>
          <p:cNvSpPr>
            <a:spLocks xmlns:a="http://schemas.openxmlformats.org/drawingml/2006/main" noGrp="1"/>
          </p:cNvSpPr>
          <p:nvPr>
            <p:ph type="dt" idx="16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2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CBBAF7F-CBAB-41BA-9AAB-0F505B8FE1FF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5784BFED-57F1-4653-971E-7CF94B264116}"/>
              </a:ext>
            </a:extLst>
          </p:cNvPr>
          <p:cNvSpPr>
            <a:spLocks xmlns:a="http://schemas.openxmlformats.org/drawingml/2006/main" noGrp="1"/>
          </p:cNvSpPr>
          <p:nvPr>
            <p:ph type="sldNum" idx="18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00A58784-66A9-47C0-9CF9-FDDB1C8BC581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Comparis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3680C123-FAA4-448A-8E22-53E10D920A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CC5637D-13A3-4136-90D9-F6F6CD6DBDC3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535040"/>
            <a:ext cx="403992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6AC343F-E878-406D-A471-FA1D781A4592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2174760"/>
            <a:ext cx="403992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4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5125F616-3D28-43B6-ABEC-D237CB2CD02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1535040"/>
            <a:ext cx="404136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sz="24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5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87BF1A16-8608-4169-BE57-69C17805DAD6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645080" y="2174760"/>
            <a:ext cx="404136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sz="1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1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sz="16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16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36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41B7E583-6E2A-4252-ACFE-704DB359FB22}"/>
              </a:ext>
            </a:extLst>
          </p:cNvPr>
          <p:cNvSpPr>
            <a:spLocks xmlns:a="http://schemas.openxmlformats.org/drawingml/2006/main" noGrp="1"/>
          </p:cNvSpPr>
          <p:nvPr>
            <p:ph type="dt" idx="19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7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5A0CAC17-B7AE-456F-A878-2AC74A583D11}"/>
              </a:ext>
            </a:extLst>
          </p:cNvPr>
          <p:cNvSpPr>
            <a:spLocks xmlns:a="http://schemas.openxmlformats.org/drawingml/2006/main" noGrp="1"/>
          </p:cNvSpPr>
          <p:nvPr>
            <p:ph type="ftr" idx="20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8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47DA26AF-F12C-49F1-B75B-09840EA8AF98}"/>
              </a:ext>
            </a:extLst>
          </p:cNvPr>
          <p:cNvSpPr>
            <a:spLocks xmlns:a="http://schemas.openxmlformats.org/drawingml/2006/main" noGrp="1"/>
          </p:cNvSpPr>
          <p:nvPr>
            <p:ph type="sldNum" idx="21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335B3173-9225-43C2-B209-5B9A286072F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8.xml><?xml version="1.0" encoding="utf-8"?>
<p:sldLayout xmlns:p="http://schemas.openxmlformats.org/presentationml/2006/main" type="titleOnly" preserve="1">
  <p:cSld name="Title Only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763E7A-8BDF-42FF-B600-BE66D1690F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0771A9F-5E40-4573-9443-2E1F837034F5}"/>
              </a:ext>
            </a:extLst>
          </p:cNvPr>
          <p:cNvSpPr>
            <a:spLocks xmlns:a="http://schemas.openxmlformats.org/drawingml/2006/main" noGrp="1"/>
          </p:cNvSpPr>
          <p:nvPr>
            <p:ph type="dt" idx="22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43924D9-BC3D-45AF-B5D7-5C4EC3730B0E}"/>
              </a:ext>
            </a:extLst>
          </p:cNvPr>
          <p:cNvSpPr>
            <a:spLocks xmlns:a="http://schemas.openxmlformats.org/drawingml/2006/main" noGrp="1"/>
          </p:cNvSpPr>
          <p:nvPr>
            <p:ph type="ftr" idx="23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4D75C19-8865-496F-AD4D-BC0B9D7007B0}"/>
              </a:ext>
            </a:extLst>
          </p:cNvPr>
          <p:cNvSpPr>
            <a:spLocks xmlns:a="http://schemas.openxmlformats.org/drawingml/2006/main" noGrp="1"/>
          </p:cNvSpPr>
          <p:nvPr>
            <p:ph type="sldNum" idx="24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1B541422-026A-41A2-BAA3-EBC9553034F4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8E7E9AB-CCF8-494D-ABFF-C27AC1377C7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</p:cSld>
</p:sldLayout>
</file>

<file path=ppt/slideLayouts/slideLayout9.xml><?xml version="1.0" encoding="utf-8"?>
<p:sldLayout xmlns:p="http://schemas.openxmlformats.org/presentationml/2006/main" type="blank" preserve="1">
  <p:cSld name="Blank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8EE9F77-FF91-4B8B-96EF-F856024B6530}"/>
              </a:ext>
            </a:extLst>
          </p:cNvPr>
          <p:cNvSpPr>
            <a:spLocks xmlns:a="http://schemas.openxmlformats.org/drawingml/2006/main" noGrp="1"/>
          </p:cNvSpPr>
          <p:nvPr>
            <p:ph type="dt" idx="25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16DAC5DA-04CD-4738-B270-588C2F4099D9}"/>
              </a:ext>
            </a:extLst>
          </p:cNvPr>
          <p:cNvSpPr>
            <a:spLocks xmlns:a="http://schemas.openxmlformats.org/drawingml/2006/main" noGrp="1"/>
          </p:cNvSpPr>
          <p:nvPr>
            <p:ph type="ftr" idx="26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4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AA15843-A8B0-48E9-8A97-4117540375DF}"/>
              </a:ext>
            </a:extLst>
          </p:cNvPr>
          <p:cNvSpPr>
            <a:spLocks xmlns:a="http://schemas.openxmlformats.org/drawingml/2006/main" noGrp="1"/>
          </p:cNvSpPr>
          <p:nvPr>
            <p:ph type="sldNum" idx="27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7DBD564E-998E-4A3F-9B53-86B1A84650EE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0.xml><?xml version="1.0" encoding="utf-8"?>
<p:sldLayout xmlns:p="http://schemas.openxmlformats.org/presentationml/2006/main" type="blank" preserve="1">
  <p:cSld name="Content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CC96145-5E18-442F-8206-8CCBE259682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2880"/>
            <a:ext cx="3007800" cy="1161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88FCCA03-DC70-43F0-B211-D832220AB5DE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3575160" y="272880"/>
            <a:ext cx="5111280" cy="58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sz="28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level</a:t>
            </a:r>
            <a:endParaRPr sz="28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sz="2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level</a:t>
            </a:r>
            <a:endParaRPr sz="2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sz="20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level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49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B0C6F7FF-79BE-46BA-A83C-A90E3D078A39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457200" y="1434960"/>
            <a:ext cx="3007800" cy="46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0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2D490194-C936-4503-BD7F-114BFB17D8D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1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0BF7F858-C3B5-46C4-A560-1F4AAAB55EDF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2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F8ADE7F9-C0F9-4A6D-B40F-06A871881BE2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E9DCBC23-3989-4AE8-8C0A-65784AA9C6E3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Layouts/slideLayout11.xml><?xml version="1.0" encoding="utf-8"?>
<p:sldLayout xmlns:p="http://schemas.openxmlformats.org/presentationml/2006/main" type="blank" preserve="1">
  <p:cSld name="Picture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0C4AF98-3128-411F-810B-BA781B94E90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440" y="4800600"/>
            <a:ext cx="5486040" cy="566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2000" b="1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title style</a:t>
            </a:r>
            <a:endParaRPr sz="20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4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A23D7E5-3E3C-43B6-81C3-F4192842F55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612720"/>
            <a:ext cx="548604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the outline text format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Second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Third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Fourth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Fifth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Sixth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Seventh Outline Level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5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CB590483-0173-4F5A-A9DB-A1697C5705DA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1792440" y="5367240"/>
            <a:ext cx="5486040" cy="80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Click to edit Master text styles</a:t>
            </a:r>
            <a:endParaRPr sz="1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56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FFCDFBF4-C5D0-486D-ACE0-36AACB5416C5}"/>
              </a:ext>
            </a:extLst>
          </p:cNvPr>
          <p:cNvSpPr>
            <a:spLocks xmlns:a="http://schemas.openxmlformats.org/drawingml/2006/main" noGrp="1"/>
          </p:cNvSpPr>
          <p:nvPr>
            <p:ph type="dt" idx="3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defTabSz="457200">
              <a:lnSpc>
                <a:spcPct val="100000"/>
              </a:lnSpc>
              <a:buNone/>
            </a:pPr>
            <a:r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&lt;date/time&gt;</a:t>
            </a:r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7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AB82F94-296D-4143-80A5-113DD2E90BCF}"/>
              </a:ext>
            </a:extLst>
          </p:cNvPr>
          <p:cNvSpPr>
            <a:spLocks xmlns:a="http://schemas.openxmlformats.org/drawingml/2006/main" noGrp="1"/>
          </p:cNvSpPr>
          <p:nvPr>
            <p:ph type="ftr" idx="3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>
            <a:pPr indent="0" algn="ctr">
              <a:buNone/>
            </a:pPr>
            <a:r>
              <a: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rPr>
              <a:t>&lt;footer&gt;</a:t>
            </a:r>
            <a:endParaRPr sz="14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8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7A44C1D1-164F-4C15-8894-A44C7F4732EE}"/>
              </a:ext>
            </a:extLst>
          </p:cNvPr>
          <p:cNvSpPr>
            <a:spLocks xmlns:a="http://schemas.openxmlformats.org/drawingml/2006/main" noGrp="1"/>
          </p:cNvSpPr>
          <p:nvPr>
            <p:ph type="sldNum" idx="3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 defTabSz="45720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>
            <a:pPr indent="0" algn="r" defTabSz="457200">
              <a:lnSpc>
                <a:spcPct val="100000"/>
              </a:lnSpc>
              <a:buNone/>
            </a:pPr>
            <a:fld id="{98B274AD-299F-487E-9729-FFC20C074CAD}" type="slidenum">
              <a: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&lt;number&gt;</a:t>
            </a:fld>
            <a:endParaRPr sz="1200" b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6b833f20c64734" /><Relationship Type="http://schemas.openxmlformats.org/officeDocument/2006/relationships/slideLayout" Target="/ppt/slideLayouts/slideLayout1.xml" Id="Rf6b1593467df4341" /><Relationship Type="http://schemas.openxmlformats.org/officeDocument/2006/relationships/slideLayout" Target="/ppt/slideLayouts/slideLayout2.xml" Id="R8b9d5e5eea924506" /><Relationship Type="http://schemas.openxmlformats.org/officeDocument/2006/relationships/slideLayout" Target="/ppt/slideLayouts/slideLayout3.xml" Id="R67e66f92f29f49d7" /><Relationship Type="http://schemas.openxmlformats.org/officeDocument/2006/relationships/slideLayout" Target="/ppt/slideLayouts/slideLayout4.xml" Id="R632aeb6ef9724666" /><Relationship Type="http://schemas.openxmlformats.org/officeDocument/2006/relationships/slideLayout" Target="/ppt/slideLayouts/slideLayout5.xml" Id="Rb6fb23d826b44560" /><Relationship Type="http://schemas.openxmlformats.org/officeDocument/2006/relationships/slideLayout" Target="/ppt/slideLayouts/slideLayout6.xml" Id="Rd1342649fad7472c" /><Relationship Type="http://schemas.openxmlformats.org/officeDocument/2006/relationships/slideLayout" Target="/ppt/slideLayouts/slideLayout7.xml" Id="R3eefeb29993a4111" /><Relationship Type="http://schemas.openxmlformats.org/officeDocument/2006/relationships/slideLayout" Target="/ppt/slideLayouts/slideLayout8.xml" Id="R76147fd507ab458c" /><Relationship Type="http://schemas.openxmlformats.org/officeDocument/2006/relationships/slideLayout" Target="/ppt/slideLayouts/slideLayout9.xml" Id="R0e6cd6c6e20846d4" /><Relationship Type="http://schemas.openxmlformats.org/officeDocument/2006/relationships/slideLayout" Target="/ppt/slideLayouts/slideLayout10.xml" Id="Rc80ca6e7bae14c1b" /><Relationship Type="http://schemas.openxmlformats.org/officeDocument/2006/relationships/slideLayout" Target="/ppt/slideLayouts/slideLayout11.xml" Id="R54b4a39efdf24a6c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b1593467df4341"/>
    <p:sldLayoutId xmlns:r="http://schemas.openxmlformats.org/officeDocument/2006/relationships" id="2147483650" r:id="R8b9d5e5eea924506"/>
    <p:sldLayoutId xmlns:r="http://schemas.openxmlformats.org/officeDocument/2006/relationships" id="2147483651" r:id="R67e66f92f29f49d7"/>
    <p:sldLayoutId xmlns:r="http://schemas.openxmlformats.org/officeDocument/2006/relationships" id="2147483652" r:id="R632aeb6ef9724666"/>
    <p:sldLayoutId xmlns:r="http://schemas.openxmlformats.org/officeDocument/2006/relationships" id="2147483653" r:id="Rb6fb23d826b44560"/>
    <p:sldLayoutId xmlns:r="http://schemas.openxmlformats.org/officeDocument/2006/relationships" id="2147483654" r:id="Rd1342649fad7472c"/>
    <p:sldLayoutId xmlns:r="http://schemas.openxmlformats.org/officeDocument/2006/relationships" id="2147483655" r:id="R3eefeb29993a4111"/>
    <p:sldLayoutId xmlns:r="http://schemas.openxmlformats.org/officeDocument/2006/relationships" id="2147483656" r:id="R76147fd507ab458c"/>
    <p:sldLayoutId xmlns:r="http://schemas.openxmlformats.org/officeDocument/2006/relationships" id="2147483657" r:id="R0e6cd6c6e20846d4"/>
    <p:sldLayoutId xmlns:r="http://schemas.openxmlformats.org/officeDocument/2006/relationships" id="2147483658" r:id="Rc80ca6e7bae14c1b"/>
    <p:sldLayoutId xmlns:r="http://schemas.openxmlformats.org/officeDocument/2006/relationships" id="2147483659" r:id="R54b4a39efdf24a6c"/>
  </p:sldLayoutIdLst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22ba27c0c9475e" /><Relationship Type="http://schemas.openxmlformats.org/officeDocument/2006/relationships/notesSlide" Target="/ppt/notesSlides/notesSlide1.xml" Id="Reff6647cdf3d413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da225252a01438f" /><Relationship Type="http://schemas.openxmlformats.org/officeDocument/2006/relationships/notesSlide" Target="/ppt/notesSlides/notesSlide2.xml" Id="R77116a0bda9649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d07800d05e5c4da1" /><Relationship Type="http://schemas.openxmlformats.org/officeDocument/2006/relationships/notesSlide" Target="/ppt/notesSlides/notesSlide3.xml" Id="R28bf0bfa992d4d9b" /></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8.xml" Id="Rf1a2e223e802445e" /><ns0:Relationship Type="http://schemas.openxmlformats.org/officeDocument/2006/relationships/chart" Target="/ppt/slides/charts/chart1.xml" Id="Re8af452dc3cf4eec" /><ns0:Relationship Type="http://schemas.openxmlformats.org/officeDocument/2006/relationships/notesSlide" Target="/ppt/notesSlides/notesSlide4.xml" Id="Rc2e5a682ec92400d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8.xml" Id="Raba5f8c258dc4ac6" /><ns0:Relationship Type="http://schemas.openxmlformats.org/officeDocument/2006/relationships/chart" Target="/ppt/slides/charts/chart2.xml" Id="R54aaff37545d491c" /><ns0:Relationship Type="http://schemas.openxmlformats.org/officeDocument/2006/relationships/notesSlide" Target="/ppt/notesSlides/notesSlide5.xml" Id="Rf0667348c7d74ae3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8.xml" Id="R53d7d49190e541b7" /><ns0:Relationship Type="http://schemas.openxmlformats.org/officeDocument/2006/relationships/chart" Target="/ppt/slides/charts/chart3.xml" Id="Rb809e15e7cf34f13" /><ns0:Relationship Type="http://schemas.openxmlformats.org/officeDocument/2006/relationships/notesSlide" Target="/ppt/notesSlides/notesSlide6.xml" Id="R100830303cce4da8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8.xml" Id="Rb3ebbdf6bf3741d9" /><ns0:Relationship Type="http://schemas.openxmlformats.org/officeDocument/2006/relationships/chart" Target="/ppt/slides/charts/chart4.xml" Id="Rde3ba51aefa948e2" /><ns0:Relationship Type="http://schemas.openxmlformats.org/officeDocument/2006/relationships/notesSlide" Target="/ppt/notesSlides/notesSlide7.xml" Id="R2dc7f008ea6848d5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8.xml" Id="R04a29e1445564288" /><ns0:Relationship Type="http://schemas.openxmlformats.org/officeDocument/2006/relationships/chart" Target="/ppt/slides/charts/chart5.xml" Id="Rfd7fc54d2a2d44b8" /><ns0:Relationship Type="http://schemas.openxmlformats.org/officeDocument/2006/relationships/notesSlide" Target="/ppt/notesSlides/notesSlide8.xml" Id="R073dd59466424855" /></ns0: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25437adca33e458b" /><Relationship Type="http://schemas.openxmlformats.org/officeDocument/2006/relationships/notesSlide" Target="/ppt/notesSlides/notesSlide9.xml" Id="R063576ee26b2467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ROC-AUC</c:v>
          </c:tx>
          <c:spPr>
            <a:solidFill xmlns:a="http://schemas.openxmlformats.org/drawingml/2006/main">
              <a:srgbClr val="1C718C"/>
            </a:solidFill>
          </c:spPr>
          <c:cat>
            <c:strLit>
              <c:ptCount val="3"/>
              <c:pt idx="0">
                <c:v>Regresión logística</c:v>
              </c:pt>
              <c:pt idx="1">
                <c:v>Bosque aleatorio</c:v>
              </c:pt>
              <c:pt idx="2">
                <c:v>Red neuronal MLP</c:v>
              </c:pt>
            </c:strLit>
          </c:cat>
          <c:val>
            <c:numLit>
              <c:formatCode>0.000</c:formatCode>
              <c:ptCount val="3"/>
              <c:pt idx="0">
                <c:v>0.8187228</c:v>
              </c:pt>
              <c:pt idx="1">
                <c:v>0.8099931</c:v>
              </c:pt>
              <c:pt idx="2">
                <c:v>0.768415</c:v>
              </c:pt>
            </c:numLit>
          </c:val>
        </c:ser>
        <c:ser>
          <c:idx val="1"/>
          <c:order val="1"/>
          <c:tx>
            <c:v>PR-AUC</c:v>
          </c:tx>
          <c:spPr>
            <a:solidFill xmlns:a="http://schemas.openxmlformats.org/drawingml/2006/main">
              <a:srgbClr val="62C6C0"/>
            </a:solidFill>
          </c:spPr>
          <c:cat>
            <c:strLit>
              <c:ptCount val="3"/>
              <c:pt idx="0">
                <c:v>Regresión logística</c:v>
              </c:pt>
              <c:pt idx="1">
                <c:v>Bosque aleatorio</c:v>
              </c:pt>
              <c:pt idx="2">
                <c:v>Red neuronal MLP</c:v>
              </c:pt>
            </c:strLit>
          </c:cat>
          <c:val>
            <c:numLit>
              <c:formatCode>0.000</c:formatCode>
              <c:ptCount val="3"/>
              <c:pt idx="0">
                <c:v>0.5524991</c:v>
              </c:pt>
              <c:pt idx="1">
                <c:v>0.5323894</c:v>
              </c:pt>
              <c:pt idx="2">
                <c:v>0.4839745</c:v>
              </c:pt>
            </c:numLit>
          </c:val>
        </c:ser>
        <c:ser>
          <c:idx val="2"/>
          <c:order val="2"/>
          <c:tx>
            <c:v>F1 ajustado</c:v>
          </c:tx>
          <c:spPr>
            <a:solidFill xmlns:a="http://schemas.openxmlformats.org/drawingml/2006/main">
              <a:srgbClr val="DDAA1C"/>
            </a:solidFill>
          </c:spPr>
          <c:cat>
            <c:strLit>
              <c:ptCount val="3"/>
              <c:pt idx="0">
                <c:v>Regresión logística</c:v>
              </c:pt>
              <c:pt idx="1">
                <c:v>Bosque aleatorio</c:v>
              </c:pt>
              <c:pt idx="2">
                <c:v>Red neuronal MLP</c:v>
              </c:pt>
            </c:strLit>
          </c:cat>
          <c:val>
            <c:numLit>
              <c:formatCode>0.000</c:formatCode>
              <c:ptCount val="3"/>
              <c:pt idx="0">
                <c:v>0.5333333</c:v>
              </c:pt>
              <c:pt idx="1">
                <c:v>0.5441696</c:v>
              </c:pt>
              <c:pt idx="2">
                <c:v>0.4701349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0324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1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Valor de la métrica</a:t>
                </a:r>
              </a:p>
            </c:rich>
          </c:tx>
          <c:overlay val="0"/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203248"/>
              </a:solidFill>
              <a:latin typeface="Aptos"/>
              <a:ea typeface="Aptos"/>
              <a:cs typeface="Aptos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puntuaciones</c:v>
          </c:tx>
          <c:spPr>
            <a:solidFill xmlns:a="http://schemas.openxmlformats.org/drawingml/2006/main">
              <a:srgbClr val="3479A5"/>
            </a:solidFill>
          </c:spPr>
          <c:cat>
            <c:strLit>
              <c:ptCount val="10"/>
              <c:pt idx="0">
                <c:v>0,00-0,10</c:v>
              </c:pt>
              <c:pt idx="1">
                <c:v>0,10-0,20</c:v>
              </c:pt>
              <c:pt idx="2">
                <c:v>0,20-0,30</c:v>
              </c:pt>
              <c:pt idx="3">
                <c:v>0,30-0,40</c:v>
              </c:pt>
              <c:pt idx="4">
                <c:v>0,40-0,50</c:v>
              </c:pt>
              <c:pt idx="5">
                <c:v>0,50-0,60</c:v>
              </c:pt>
              <c:pt idx="6">
                <c:v>0,60-0,70</c:v>
              </c:pt>
              <c:pt idx="7">
                <c:v>0,70-0,80</c:v>
              </c:pt>
              <c:pt idx="8">
                <c:v>0,80-0,90</c:v>
              </c:pt>
              <c:pt idx="9">
                <c:v>0,90-1,00</c:v>
              </c:pt>
            </c:strLit>
          </c:cat>
          <c:val>
            <c:numLit>
              <c:formatCode>General</c:formatCode>
              <c:ptCount val="10"/>
              <c:pt idx="0">
                <c:v>387</c:v>
              </c:pt>
              <c:pt idx="1">
                <c:v>229</c:v>
              </c:pt>
              <c:pt idx="2">
                <c:v>157</c:v>
              </c:pt>
              <c:pt idx="3">
                <c:v>114</c:v>
              </c:pt>
              <c:pt idx="4">
                <c:v>123</c:v>
              </c:pt>
              <c:pt idx="5">
                <c:v>103</c:v>
              </c:pt>
              <c:pt idx="6">
                <c:v>90</c:v>
              </c:pt>
              <c:pt idx="7">
                <c:v>114</c:v>
              </c:pt>
              <c:pt idx="8">
                <c:v>90</c:v>
              </c:pt>
              <c:pt idx="9">
                <c:v>63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0324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1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Número de casos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Tasa de rotación observada (%)</c:v>
          </c:tx>
          <c:spPr>
            <a:solidFill xmlns:a="http://schemas.openxmlformats.org/drawingml/2006/main">
              <a:srgbClr val="4B9B8F"/>
            </a:solidFill>
          </c:spPr>
          <c:cat>
            <c:strLit>
              <c:ptCount val="3"/>
              <c:pt idx="0">
                <c:v>Ventas</c:v>
              </c:pt>
              <c:pt idx="1">
                <c:v>Recursos Humanos</c:v>
              </c:pt>
              <c:pt idx="2">
                <c:v>Investigación y Desarrollo</c:v>
              </c:pt>
            </c:strLit>
          </c:cat>
          <c:val>
            <c:numLit>
              <c:formatCode>0.0"%"</c:formatCode>
              <c:ptCount val="3"/>
              <c:pt idx="0">
                <c:v>20.6</c:v>
              </c:pt>
              <c:pt idx="1">
                <c:v>19</c:v>
              </c:pt>
              <c:pt idx="2">
                <c:v>13.8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0324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5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1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Tasa observada (%)</a:t>
                </a:r>
              </a:p>
            </c:rich>
          </c:tx>
          <c:overlay val="0"/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Tasa de rotación observada (%)</c:v>
          </c:tx>
          <c:spPr>
            <a:solidFill xmlns:a="http://schemas.openxmlformats.org/drawingml/2006/main">
              <a:srgbClr val="D97867"/>
            </a:solidFill>
          </c:spPr>
          <c:cat>
            <c:strLit>
              <c:ptCount val="2"/>
              <c:pt idx="0">
                <c:v>Sin horas extra</c:v>
              </c:pt>
              <c:pt idx="1">
                <c:v>Con horas extra</c:v>
              </c:pt>
            </c:strLit>
          </c:cat>
          <c:val>
            <c:numLit>
              <c:formatCode>0.0"%"</c:formatCode>
              <c:ptCount val="2"/>
              <c:pt idx="0">
                <c:v>10.4</c:v>
              </c:pt>
              <c:pt idx="1">
                <c:v>30.5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0324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  <c:max val="4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1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Tasa observada (%)</a:t>
                </a:r>
              </a:p>
            </c:rich>
          </c:tx>
          <c:overlay val="0"/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</a:ln>
  </c:spPr>
</c:chartSpace>
</file>

<file path=ppt/slides/charts/chart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Magnitud absoluta del coeficiente</c:v>
          </c:tx>
          <c:spPr>
            <a:solidFill xmlns:a="http://schemas.openxmlformats.org/drawingml/2006/main">
              <a:srgbClr val="1C718C"/>
            </a:solidFill>
          </c:spPr>
          <c:cat>
            <c:strLit>
              <c:ptCount val="10"/>
              <c:pt idx="0">
                <c:v>Director/a de investigación (−)</c:v>
              </c:pt>
              <c:pt idx="1">
                <c:v>Representante de ventas (+)</c:v>
              </c:pt>
              <c:pt idx="2">
                <c:v>Viajes frecuentes (+)</c:v>
              </c:pt>
              <c:pt idx="3">
                <c:v>Sin viajes de trabajo (−)</c:v>
              </c:pt>
              <c:pt idx="4">
                <c:v>Técnico de laboratorio (+)</c:v>
              </c:pt>
              <c:pt idx="5">
                <c:v>Puesto en Recursos Humanos (+)</c:v>
              </c:pt>
              <c:pt idx="6">
                <c:v>Años en la empresa (+)</c:v>
              </c:pt>
              <c:pt idx="7">
                <c:v>Estado civil: soltero/a (+)</c:v>
              </c:pt>
              <c:pt idx="8">
                <c:v>Formación técnica (+)</c:v>
              </c:pt>
              <c:pt idx="9">
                <c:v>Representante sanitario (−)</c:v>
              </c:pt>
            </c:strLit>
          </c:cat>
          <c:val>
            <c:numLit>
              <c:formatCode>0.00</c:formatCode>
              <c:ptCount val="10"/>
              <c:pt idx="0">
                <c:v>1.1213311205615677</c:v>
              </c:pt>
              <c:pt idx="1">
                <c:v>1.069968285893788</c:v>
              </c:pt>
              <c:pt idx="2">
                <c:v>0.8561488203338481</c:v>
              </c:pt>
              <c:pt idx="3">
                <c:v>0.849797629575816</c:v>
              </c:pt>
              <c:pt idx="4">
                <c:v>0.820042</c:v>
              </c:pt>
              <c:pt idx="5">
                <c:v>0.783635</c:v>
              </c:pt>
              <c:pt idx="6">
                <c:v>0.768481</c:v>
              </c:pt>
              <c:pt idx="7">
                <c:v>0.739248</c:v>
              </c:pt>
              <c:pt idx="8">
                <c:v>0.697052</c:v>
              </c:pt>
              <c:pt idx="9">
                <c:v>0.645812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050">
                  <a:solidFill>
                    <a:srgbClr val="203248"/>
                  </a:solidFill>
                  <a:latin typeface="Aptos"/>
                  <a:ea typeface="Aptos"/>
                  <a:cs typeface="Apto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E1E8"/>
              </a:solidFill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Magnitud absoluta del coeficiente</a:t>
                </a:r>
              </a:p>
            </c:rich>
          </c:tx>
          <c:overlay val="0"/>
        </c:title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203248"/>
                </a:solidFill>
                <a:latin typeface="Aptos"/>
                <a:ea typeface="Aptos"/>
                <a:cs typeface="Aptos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</a:ln>
  </c:spPr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D23A367D-FD84-49F8-AF2D-0779481DBAE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Predicción de rotación de empleados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C53B876-F98F-455F-8CFD-759CAEFF3F88}"/>
              </a:ext>
            </a:extLst>
          </p:cNvPr>
          <p:cNvSpPr>
            <a:spLocks xmlns:a="http://schemas.openxmlformats.org/drawingml/2006/main" noGrp="1"/>
          </p:cNvSpPr>
          <p:nvPr>
            <p:ph type="subTitle" idx="0"/>
          </p:nvPr>
        </p:nvSpPr>
        <p:spPr>
          <a:xfrm xmlns:a="http://schemas.openxmlformats.org/drawingml/2006/main">
            <a:off x="1371600" y="3886200"/>
            <a:ext cx="6400440" cy="1752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spcBef>
                <a:spcPts val="641"/>
              </a:spcBef>
              <a:buNone/>
              <a:tabLst>
                <a:tab pos="0" algn="l"/>
              </a:tabLst>
            </a:pPr>
            <a:r>
              <a:rPr sz="3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rPr>
              <a:t>Proyecto educativo · PySpark · aprendizaje automático · Power BI</a:t>
            </a:r>
            <a:endParaRPr sz="32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79250702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7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3A80CDC-29D0-442F-8406-74BEDDE2A9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Alcance del proyecto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68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A351A14-C962-45F2-863E-8C30FDD9AA81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Ejercicio académico de clasificación con datos de ejemplo.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Preparación de datos con PySpark y modelos con scikit-learn.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Comparación de regresión logística, bosque aleatorio y red neuronal MLP.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Evaluación con validación cruzada estratificada de cinco particiones.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Análisis descriptivo y prototipo de panel de control en Power BI.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Resultados exploratorios, sin uso operativo sobre personas.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9111308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6AB6FCB5-5C27-4A40-86A2-B59AFB49E51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Proceso de análisis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842B893-A08C-465F-AA27-8DC6A08487E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Comprobar la calidad de las claves y los datos de entrada.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Generar la encuesta sintética con semilla fija y unirla al conjunto principal.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Crear la etiqueta de rotación y las variables derivadas con PySpark.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Entrenar tres modelos con variables numéricas y categóricas preparadas.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Comparar predicciones fuera de muestra y exportar métricas y gráficos.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34375338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71" name="PlaceHolder 1">
            <a:extLst>
              <a:ext uri="{FF2B5EF4-FFF2-40B4-BE49-F238E27FC236}">
                <ns2:creationId id="{65E0130A-3CA4-4060-A9FD-904D0A35ECFA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1620000" y="11736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Comparación de los modelos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3" name="TextBox 3">
            <a:extLst>
              <a:ext uri="{FF2B5EF4-FFF2-40B4-BE49-F238E27FC236}">
                <ns2:creationId id="{D179EA43-F748-45D7-9F30-071F40E196A0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Validación cruzada de cinco particiones. F1 y umbral se ajustaron con las mismas predicciones y son resultados exploratorios.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5" name="Fondo gráfico 4">
            <a:extLst>
              <a:ext uri="{FF2B5EF4-FFF2-40B4-BE49-F238E27FC236}">
                <ns2:creationId id="{503B5F3B-E333-4FD6-8469-1460423105A7}"/>
              </a:ext>
            </a:extLst>
          </p:cNvPr>
          <p:cNvSpPr>
            <a:spLocks noGrp="1"/>
          </p:cNvSpPr>
          <p:nvPr/>
        </p:nvSpPr>
        <p:spPr>
          <a:xfrm>
            <a:off x="2552700" y="952500"/>
            <a:ext cx="7086600" cy="5010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graphicFrame>
        <p:nvGraphicFramePr>
          <p:cNvPr id="81" name="Chart"/>
          <p:cNvGraphicFramePr/>
          <p:nvPr/>
        </p:nvGraphicFramePr>
        <p:xfrm>
          <a:off x="2095500" y="1171575"/>
          <a:ext cx="8001000" cy="4524375"/>
        </p:xfrm>
        <a:graphic>
          <a:graphicData uri="http://schemas.openxmlformats.org/drawingml/2006/chart">
            <ns3:chart r:id="Re8af452dc3cf4eec"/>
          </a:graphicData>
        </a:graphic>
      </p:graphicFrame>
    </p:spTree>
    <p:extLst>
      <p:ext uri="{BB962C8B-B14F-4D97-AF65-F5344CB8AC3E}">
        <ns5:creationId val="1507152452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74" name="PlaceHolder 1">
            <a:extLst>
              <a:ext uri="{FF2B5EF4-FFF2-40B4-BE49-F238E27FC236}">
                <ns2:creationId id="{2D52C905-F951-4F11-BF40-C3409FEC2BF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507960" y="131400"/>
            <a:ext cx="11242800" cy="126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Distribución de puntuaciones predichas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6" name="TextBox 3">
            <a:extLst>
              <a:ext uri="{FF2B5EF4-FFF2-40B4-BE49-F238E27FC236}">
                <ns2:creationId id="{D89E5E77-4B58-410D-B4A2-D67E59D88B59}"/>
              </a:ext>
            </a:extLst>
          </p:cNvPr>
          <p:cNvSpPr>
            <a:spLocks noGrp="1"/>
          </p:cNvSpPr>
          <p:nvPr/>
        </p:nvSpPr>
        <p:spPr>
          <a:xfrm>
            <a:off x="36576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Se agrupan 1.470 puntuaciones en intervalos de 0,10. La mayoría queda por debajo de 0,30; no son probabilidades calibradas.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8" name="Fondo gráfico 5">
            <a:extLst>
              <a:ext uri="{FF2B5EF4-FFF2-40B4-BE49-F238E27FC236}">
                <ns2:creationId id="{DC35DDDA-ABAD-4D4F-9348-1AC0211A76CC}"/>
              </a:ext>
            </a:extLst>
          </p:cNvPr>
          <p:cNvSpPr>
            <a:spLocks noGrp="1"/>
          </p:cNvSpPr>
          <p:nvPr/>
        </p:nvSpPr>
        <p:spPr>
          <a:xfrm>
            <a:off x="2552700" y="952500"/>
            <a:ext cx="7086600" cy="5010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graphicFrame>
        <p:nvGraphicFramePr>
          <p:cNvPr id="84" name="Chart"/>
          <p:cNvGraphicFramePr/>
          <p:nvPr/>
        </p:nvGraphicFramePr>
        <p:xfrm>
          <a:off x="2095500" y="1171575"/>
          <a:ext cx="8001000" cy="4524375"/>
        </p:xfrm>
        <a:graphic>
          <a:graphicData uri="http://schemas.openxmlformats.org/drawingml/2006/chart">
            <ns3:chart r:id="R54aaff37545d491c"/>
          </a:graphicData>
        </a:graphic>
      </p:graphicFrame>
    </p:spTree>
    <p:extLst>
      <p:ext uri="{BB962C8B-B14F-4D97-AF65-F5344CB8AC3E}">
        <ns5:creationId val="303505656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77" name="PlaceHolder 1">
            <a:extLst>
              <a:ext uri="{FF2B5EF4-FFF2-40B4-BE49-F238E27FC236}">
                <ns2:creationId id="{68DF6AE7-B196-4300-BDC9-E0722C6EA253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637200" y="180000"/>
            <a:ext cx="1052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por departamento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79" name="TextBox 3">
            <a:extLst>
              <a:ext uri="{FF2B5EF4-FFF2-40B4-BE49-F238E27FC236}">
                <ns2:creationId id="{8BD09EE3-65E6-4BF7-8BB4-A3EB9FD7A8CC}"/>
              </a:ext>
            </a:extLst>
          </p:cNvPr>
          <p:cNvSpPr>
            <a:spLocks noGrp="1"/>
          </p:cNvSpPr>
          <p:nvPr/>
        </p:nvSpPr>
        <p:spPr>
          <a:xfrm>
            <a:off x="36000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Ventas: 20,6 %; Recursos Humanos: 19,0 %; Investigación y Desarrollo: 13,8 %. Ventas muestra la tasa más alta.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1" name="Fondo gráfico 6">
            <a:extLst>
              <a:ext uri="{FF2B5EF4-FFF2-40B4-BE49-F238E27FC236}">
                <ns2:creationId id="{A034AD31-AC6E-4576-B0E1-6EC203D36773}"/>
              </a:ext>
            </a:extLst>
          </p:cNvPr>
          <p:cNvSpPr>
            <a:spLocks noGrp="1"/>
          </p:cNvSpPr>
          <p:nvPr/>
        </p:nvSpPr>
        <p:spPr>
          <a:xfrm>
            <a:off x="2552700" y="952500"/>
            <a:ext cx="7086600" cy="5010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graphicFrame>
        <p:nvGraphicFramePr>
          <p:cNvPr id="87" name="Chart"/>
          <p:cNvGraphicFramePr/>
          <p:nvPr/>
        </p:nvGraphicFramePr>
        <p:xfrm>
          <a:off x="2095500" y="1171575"/>
          <a:ext cx="8001000" cy="4524375"/>
        </p:xfrm>
        <a:graphic>
          <a:graphicData uri="http://schemas.openxmlformats.org/drawingml/2006/chart">
            <ns3:chart r:id="Rb809e15e7cf34f13"/>
          </a:graphicData>
        </a:graphic>
      </p:graphicFrame>
    </p:spTree>
    <p:extLst>
      <p:ext uri="{BB962C8B-B14F-4D97-AF65-F5344CB8AC3E}">
        <ns5:creationId val="1672691024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80" name="PlaceHolder 1">
            <a:extLst>
              <a:ext uri="{FF2B5EF4-FFF2-40B4-BE49-F238E27FC236}">
                <ns2:creationId id="{34C86444-1BAA-4375-A625-51721868B148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457200" y="180000"/>
            <a:ext cx="11242800" cy="80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Rotación observada y horas extra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2" name="TextBox 3">
            <a:extLst>
              <a:ext uri="{FF2B5EF4-FFF2-40B4-BE49-F238E27FC236}">
                <ns2:creationId id="{3DBC67BC-AB62-47CE-B97D-EBE84C4AEF3A}"/>
              </a:ext>
            </a:extLst>
          </p:cNvPr>
          <p:cNvSpPr>
            <a:spLocks noGrp="1"/>
          </p:cNvSpPr>
          <p:nvPr/>
        </p:nvSpPr>
        <p:spPr>
          <a:xfrm>
            <a:off x="26388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30,5 % con horas extra (127/416), frente a 10,4 % sin ellas (110/1.054). Es una asociación observada, no causal.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4" name="Fondo gráfico 7">
            <a:extLst>
              <a:ext uri="{FF2B5EF4-FFF2-40B4-BE49-F238E27FC236}">
                <ns2:creationId id="{39CE3FF9-2A38-4BD6-92B9-657BE1A25632}"/>
              </a:ext>
            </a:extLst>
          </p:cNvPr>
          <p:cNvSpPr>
            <a:spLocks noGrp="1"/>
          </p:cNvSpPr>
          <p:nvPr/>
        </p:nvSpPr>
        <p:spPr>
          <a:xfrm>
            <a:off x="2552700" y="952500"/>
            <a:ext cx="7086600" cy="5010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graphicFrame>
        <p:nvGraphicFramePr>
          <p:cNvPr id="90" name="Chart"/>
          <p:cNvGraphicFramePr/>
          <p:nvPr/>
        </p:nvGraphicFramePr>
        <p:xfrm>
          <a:off x="2095500" y="1171575"/>
          <a:ext cx="8001000" cy="4524375"/>
        </p:xfrm>
        <a:graphic>
          <a:graphicData uri="http://schemas.openxmlformats.org/drawingml/2006/chart">
            <ns3:chart r:id="Rde3ba51aefa948e2"/>
          </a:graphicData>
        </a:graphic>
      </p:graphicFrame>
    </p:spTree>
    <p:extLst>
      <p:ext uri="{BB962C8B-B14F-4D97-AF65-F5344CB8AC3E}">
        <ns5:creationId val="1461787212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openxmlformats.org/drawingml/2006/chart" xmlns:ns5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/>
      </p:grpSpPr>
      <p:sp>
        <p:nvSpPr>
          <p:cNvPr id="83" name="PlaceHolder 1">
            <a:extLst>
              <a:ext uri="{FF2B5EF4-FFF2-40B4-BE49-F238E27FC236}">
                <ns2:creationId id="{485DE502-EFBA-44FD-BADB-C6C681436252}"/>
              </a:ext>
            </a:extLst>
          </p:cNvPr>
          <p:cNvSpPr>
            <a:spLocks noGrp="1"/>
          </p:cNvSpPr>
          <p:nvPr>
            <p:ph type="title" idx="0"/>
          </p:nvPr>
        </p:nvSpPr>
        <p:spPr>
          <a:xfrm>
            <a:off x="817200" y="0"/>
            <a:ext cx="11062800" cy="98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/>
          <a:p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Coeficientes de la regresión logística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5" name="TextBox 3">
            <a:extLst>
              <a:ext uri="{FF2B5EF4-FFF2-40B4-BE49-F238E27FC236}">
                <ns2:creationId id="{AF3E641E-B559-4B63-B439-358EDFBBC910}"/>
              </a:ext>
            </a:extLst>
          </p:cNvPr>
          <p:cNvSpPr>
            <a:spLocks noGrp="1"/>
          </p:cNvSpPr>
          <p:nvPr/>
        </p:nvSpPr>
        <p:spPr>
          <a:xfrm>
            <a:off x="302040" y="6263640"/>
            <a:ext cx="11459880" cy="384048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lstStyle/>
          <a:p>
            <a:pPr algn="ctr" defTabSz="457200">
              <a:lnSpc>
                <a:spcPct val="100000"/>
              </a:lnSpc>
              <a:buNone/>
            </a:pPr>
            <a:r>
              <a:rPr sz="1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El signo (+/−) indica la dirección del coeficiente. La magnitud refleja una asociación del modelo, no un efecto causal.</a:t>
            </a:r>
            <a:endParaRPr sz="1400" b="0" u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7" name="Fondo gráfico 8">
            <a:extLst>
              <a:ext uri="{FF2B5EF4-FFF2-40B4-BE49-F238E27FC236}">
                <ns2:creationId id="{3A2496CE-6E9F-4F99-86F3-6564146FBB94}"/>
              </a:ext>
            </a:extLst>
          </p:cNvPr>
          <p:cNvSpPr>
            <a:spLocks noGrp="1"/>
          </p:cNvSpPr>
          <p:nvPr/>
        </p:nvSpPr>
        <p:spPr>
          <a:xfrm>
            <a:off x="2552700" y="952500"/>
            <a:ext cx="7086600" cy="5010150"/>
          </a:xfrm>
          <a:prstGeom prst="rect">
            <a:avLst/>
          </a:prstGeom>
          <a:solidFill>
            <a:srgbClr val="FFFFFF"/>
          </a:solidFill>
          <a:ln w="0">
            <a:solidFill>
              <a:srgbClr val="FFFFFF"/>
            </a:solidFill>
          </a:ln>
        </p:spPr>
      </p:sp>
      <p:graphicFrame>
        <p:nvGraphicFramePr>
          <p:cNvPr id="93" name="Chart"/>
          <p:cNvGraphicFramePr/>
          <p:nvPr/>
        </p:nvGraphicFramePr>
        <p:xfrm>
          <a:off x="2095500" y="1171575"/>
          <a:ext cx="8001000" cy="4524375"/>
        </p:xfrm>
        <a:graphic>
          <a:graphicData uri="http://schemas.openxmlformats.org/drawingml/2006/chart">
            <ns3:chart r:id="Rfd7fc54d2a2d44b8"/>
          </a:graphicData>
        </a:graphic>
      </p:graphicFrame>
    </p:spTree>
    <p:extLst>
      <p:ext uri="{BB962C8B-B14F-4D97-AF65-F5344CB8AC3E}">
        <ns5:creationId val="7824060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97F62F03-CE33-4FE9-9DF1-F95A7525FF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>
            <a:pPr indent="0" algn="ctr" defTabSz="457200">
              <a:lnSpc>
                <a:spcPct val="100000"/>
              </a:lnSpc>
              <a:buNone/>
            </a:pPr>
            <a:r>
              <a:rPr sz="44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Resultados, conclusiones y límites</a:t>
            </a:r>
            <a:endParaRPr sz="44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8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F0B9206-BCA7-49C5-B770-F20910E47C4A}"/>
              </a:ext>
            </a:extLst>
          </p:cNvPr>
          <p:cNvSpPr>
            <a:spLocks xmlns:a="http://schemas.openxmlformats.org/drawingml/2006/main" noGrp="1"/>
          </p:cNvSpPr>
          <p:nvPr>
            <p:ph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Regresión logística: mejor ROC-AUC (0,819) y PR-AUC (0,552).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Bosque aleatorio: mayor F1 ajustado (0,544; umbral 0,210).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MLP: ROC-AUC 0,768 y PR-AUC 0,484, los valores más bajos.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La encuesta sintética no aporta evidencia sobre empleados reales.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sz="3200" b="0" u="none">
                <a:solidFill>
                  <a:schemeClr val="dk1"/>
                </a:solidFill>
                <a:latin typeface="Calibri"/>
                <a:ea typeface="Calibri"/>
                <a:cs typeface="Calibri"/>
              </a:rPr>
              <a:t>Conclusión: flujo educativo, sin validación para decisiones laborales.</a:t>
            </a:r>
            <a:endParaRPr sz="3200" b="0" u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3839746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2026-10-04T18:07:50.5590000Z</dcterms:created>
  <dcterms:modified xsi:type="dcterms:W3CDTF">2026-10-04T18:07:50.5590000Z</dcterms:modified>
</coreProperties>
</file>