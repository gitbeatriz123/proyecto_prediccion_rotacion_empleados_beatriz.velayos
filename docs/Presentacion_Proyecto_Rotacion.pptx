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0a51f6133a4346" /><Relationship Type="http://schemas.openxmlformats.org/officeDocument/2006/relationships/extended-properties" Target="/docProps/app.xml" Id="R470c3dd43f9d445f" /><Relationship Type="http://schemas.openxmlformats.org/officeDocument/2006/relationships/officeDocument" Target="/ppt/presentation.xml" Id="Rd8a6c27c5c9f4c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34ef3098554efb"/>
  </p:sldMasterIdLst>
  <p:notesMasterIdLst>
    <p:notesMasterId xmlns:r="http://schemas.openxmlformats.org/officeDocument/2006/relationships" r:id="Rf84322a769e74caa"/>
  </p:notesMasterIdLst>
  <p:sldIdLst>
    <p:sldId xmlns:r="http://schemas.openxmlformats.org/officeDocument/2006/relationships" id="256" r:id="R52cbed1790c545e2"/>
    <p:sldId xmlns:r="http://schemas.openxmlformats.org/officeDocument/2006/relationships" id="257" r:id="R81ee4facf8a1446b"/>
    <p:sldId xmlns:r="http://schemas.openxmlformats.org/officeDocument/2006/relationships" id="258" r:id="Ref06223ce62f42e6"/>
    <p:sldId xmlns:r="http://schemas.openxmlformats.org/officeDocument/2006/relationships" id="259" r:id="R8da7394057eb438c"/>
    <p:sldId xmlns:r="http://schemas.openxmlformats.org/officeDocument/2006/relationships" id="260" r:id="R42d037dfdde34563"/>
    <p:sldId xmlns:r="http://schemas.openxmlformats.org/officeDocument/2006/relationships" id="261" r:id="R5f5eb6597f0d4ea7"/>
    <p:sldId xmlns:r="http://schemas.openxmlformats.org/officeDocument/2006/relationships" id="262" r:id="R9e2af8bc6ce44a79"/>
    <p:sldId xmlns:r="http://schemas.openxmlformats.org/officeDocument/2006/relationships" id="263" r:id="Rd3b2df5f4902462c"/>
    <p:sldId xmlns:r="http://schemas.openxmlformats.org/officeDocument/2006/relationships" id="264" r:id="Rc3f2d4da47b940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81dedbd3c549d1" /><Relationship Type="http://schemas.openxmlformats.org/officeDocument/2006/relationships/slideMaster" Target="/ppt/slideMasters/slideMaster1.xml" Id="R8734ef3098554efb" /><Relationship Type="http://schemas.openxmlformats.org/officeDocument/2006/relationships/notesMaster" Target="/ppt/notesMasters/notesMaster1.xml" Id="Rf84322a769e74caa" /><Relationship Type="http://schemas.openxmlformats.org/officeDocument/2006/relationships/presProps" Target="/ppt/presProps.xml" Id="R145725d1da8d4696" /><Relationship Type="http://schemas.openxmlformats.org/officeDocument/2006/relationships/tableStyles" Target="/ppt/tableStyles.xml" Id="R3945af232278436f" /><Relationship Type="http://schemas.openxmlformats.org/officeDocument/2006/relationships/slide" Target="/ppt/slides/slide1.xml" Id="R52cbed1790c545e2" /><Relationship Type="http://schemas.openxmlformats.org/officeDocument/2006/relationships/slide" Target="/ppt/slides/slide2.xml" Id="R81ee4facf8a1446b" /><Relationship Type="http://schemas.openxmlformats.org/officeDocument/2006/relationships/slide" Target="/ppt/slides/slide3.xml" Id="Ref06223ce62f42e6" /><Relationship Type="http://schemas.openxmlformats.org/officeDocument/2006/relationships/slide" Target="/ppt/slides/slide4.xml" Id="R8da7394057eb438c" /><Relationship Type="http://schemas.openxmlformats.org/officeDocument/2006/relationships/slide" Target="/ppt/slides/slide5.xml" Id="R42d037dfdde34563" /><Relationship Type="http://schemas.openxmlformats.org/officeDocument/2006/relationships/slide" Target="/ppt/slides/slide6.xml" Id="R5f5eb6597f0d4ea7" /><Relationship Type="http://schemas.openxmlformats.org/officeDocument/2006/relationships/slide" Target="/ppt/slides/slide7.xml" Id="R9e2af8bc6ce44a79" /><Relationship Type="http://schemas.openxmlformats.org/officeDocument/2006/relationships/slide" Target="/ppt/slides/slide8.xml" Id="Rd3b2df5f4902462c" /><Relationship Type="http://schemas.openxmlformats.org/officeDocument/2006/relationships/slide" Target="/ppt/slides/slide9.xml" Id="Rc3f2d4da47b940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c3d2891c374c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0dc218b67140d9" /><Relationship Type="http://schemas.openxmlformats.org/officeDocument/2006/relationships/notesMaster" Target="/ppt/notesMasters/notesMaster1.xml" Id="Rb216410c88ca45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425e83f09b4af5" /><Relationship Type="http://schemas.openxmlformats.org/officeDocument/2006/relationships/notesMaster" Target="/ppt/notesMasters/notesMaster1.xml" Id="Re50e444e24d145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69447cd7134bad" /><Relationship Type="http://schemas.openxmlformats.org/officeDocument/2006/relationships/notesMaster" Target="/ppt/notesMasters/notesMaster1.xml" Id="Rb55e25924afb40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f183223408482a" /><Relationship Type="http://schemas.openxmlformats.org/officeDocument/2006/relationships/notesMaster" Target="/ppt/notesMasters/notesMaster1.xml" Id="R9d520595278d4e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541e13f9a84f12" /><Relationship Type="http://schemas.openxmlformats.org/officeDocument/2006/relationships/notesMaster" Target="/ppt/notesMasters/notesMaster1.xml" Id="R336def9711b244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cfd006b30d4191" /><Relationship Type="http://schemas.openxmlformats.org/officeDocument/2006/relationships/notesMaster" Target="/ppt/notesMasters/notesMaster1.xml" Id="R062e4fbb7b184c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ec3bc2cca94b24" /><Relationship Type="http://schemas.openxmlformats.org/officeDocument/2006/relationships/notesMaster" Target="/ppt/notesMasters/notesMaster1.xml" Id="R028f093a664544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dc41550c6c448f" /><Relationship Type="http://schemas.openxmlformats.org/officeDocument/2006/relationships/notesMaster" Target="/ppt/notesMasters/notesMaster1.xml" Id="R5b73a9b522014b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9e726a5c6a407b" /><Relationship Type="http://schemas.openxmlformats.org/officeDocument/2006/relationships/notesMaster" Target="/ppt/notesMasters/notesMaster1.xml" Id="Reccfce8400784b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Proyecto educativo de Big Data y analítica de Recursos Humanos. El recorrido integra datos, compara modelos y traduce resultados a prioridades para una empresa hipotética.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La diapositiva resume el objetivo: preparar los datos, comparar tres clasificadores y orientar diagnósticos y acciones de retención por área.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 flujo comienza con controles de calidad, integra la encuesta mediante EmployeeNumber, construye variables con PySpark, compara los clasificadores y exporta métricas y gráficos.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La gráfica compara ROC-AUC, PR-AUC y F1 de los tres modelos con predicciones OOF. Regresión Logística lidera ROC-AUC y PR-AUC; Random Forest obtiene el F1 comparativo más alto.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 histograma agrupa 1.470 puntuaciones OOF de Regresión Logística en intervalos de 0,10; 773 valores (52,6 %) quedan por debajo de 0,30.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 gráfico compara las tasas observadas por departamento: Ventas 20,6 % (92/446), Recursos Humanos 19,0 % (12/63) e Investigación y Desarrollo 13,8 % (133/961).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La visualización contrasta la tasa observada con y sin horas extra. La diferencia orienta una revisión de turnos y distribución de carga.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Entre los coeficientes de mayor magnitud figuran representante de ventas (+1,070), viajes frecuentes (+0,856) y director/a de investigación (−1,121). Estos valores ayudan a concretar preguntas para los responsables de cada área.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Regresión Logística ordena mejor por ROC-AUC (0,819) y PR-AUC (0,552); Random Forest alcanza el mayor F1 (0,544). Al umbral comparativo 0,732, las predicciones OOF de Regresión Logística reúnen 228 señales: 104 en Ventas, 115 en I+D y 9 en RR. HH. Se propone revisar primero Ventas por tasa y, en paralelo, I+D por volumen; después, seguir la evolución de horas extra, equipos y áreas tras cada acción.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4f76d29ec44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2cad93fbb45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1fc33bfbf4c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4207a9ebf4d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b4a9e212a42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c005da04744e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3070b922f4d3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0a1da4e813451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6b9ee311a94e2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38dfc37a0465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e8279e7ca4197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B045BEB-2A0E-4CE6-BB6B-54367B6FD4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30480"/>
            <a:ext cx="7772040" cy="146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400B048-375F-4CCE-8677-D24244CEB6B0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534ED38-BE2E-4097-BF42-7AA9C1DD938A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E1FA4F4A-79B3-4B01-83EB-FC6B69468BEF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C1F15649-DE97-4D31-AB74-DF95F7F404A2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D78EDD1-9F93-4766-A3B3-544BB64CE98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08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vertTx" preserve="1">
  <p:cSld name="Title and Vertical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9818B03-43EF-471D-9B0F-806B50EAD5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8F42C79-D9B9-4690-810F-822A8E495F0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F77D8B3-B6C4-49BF-A6ED-3FE7884837C6}"/>
              </a:ext>
            </a:extLst>
          </p:cNvPr>
          <p:cNvSpPr>
            <a:spLocks xmlns:a="http://schemas.openxmlformats.org/drawingml/2006/main" noGrp="1"/>
          </p:cNvSpPr>
          <p:nvPr>
            <p:ph type="dt" idx="4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C489B14-863F-47CC-8615-6159481E669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A9841976-2504-4DC8-AC01-91F582216535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709F07B7-EBC3-4A18-A366-933C874466B9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vertTitleAndTx" preserve="1">
  <p:cSld name="Vertical Title and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5CB3FCA-F927-42AD-B435-F5CA19FF27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80"/>
            <a:ext cx="205704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797F264-EB23-43F7-BE6E-A83A74F05C7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74680"/>
            <a:ext cx="601956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9C3D623-7E4C-4D4F-824F-A46044981564}"/>
              </a:ext>
            </a:extLst>
          </p:cNvPr>
          <p:cNvSpPr>
            <a:spLocks xmlns:a="http://schemas.openxmlformats.org/drawingml/2006/main" noGrp="1"/>
          </p:cNvSpPr>
          <p:nvPr>
            <p:ph type="dt" idx="7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EB213CB-45ED-4265-8C41-9E860FD5EBEC}"/>
              </a:ext>
            </a:extLst>
          </p:cNvPr>
          <p:cNvSpPr>
            <a:spLocks xmlns:a="http://schemas.openxmlformats.org/drawingml/2006/main" noGrp="1"/>
          </p:cNvSpPr>
          <p:nvPr>
            <p:ph type="ftr" idx="8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F965281D-21E0-445E-99DC-518C9F0DCA75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3992E60D-EFD5-41CD-9019-06F17E86CF4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and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CFB4A70-63BE-4A86-A10C-127F6FC519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D98FA3C-7042-403B-B90B-40EBE66E00A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B205F6A-5C20-4B77-95E7-B2740AD564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B5B0793-ADFF-4280-B6C3-066C6341DF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651BCD72-C350-45DE-A806-71B42B5776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8C8D860B-5ABB-4C55-8043-68CB8500841E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0961491-152E-47B4-939A-009EC00CF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160" y="4406760"/>
            <a:ext cx="7772040" cy="13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4000" b="1" u="none" cap="all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16C0524-F074-4195-9ABC-98B9DE1701F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2160" y="2906640"/>
            <a:ext cx="7772040" cy="14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E8FA829-DDDE-4DF0-BE5F-C05B90E155E9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986A44C-CCF3-4C02-A767-0AE0F7065A81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CB575852-B480-47B1-AF79-D344823E13F2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EAE19106-4133-4231-94FB-64473ACB2E53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 preserve="1">
  <p:cSld name="Two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14DD276-B803-4018-91E0-6BB80ECF40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A342F0D-6E83-4C7E-BC83-B1FBDB4CD40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CFBB45A-9C1D-4EF6-B98A-7BF8BB6C719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832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671C9BC-98B0-4862-A610-93A68CF4EEC3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0CBBAF7F-CBAB-41BA-9AAB-0F505B8FE1FF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5784BFED-57F1-4653-971E-7CF94B264116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00A58784-66A9-47C0-9CF9-FDDB1C8BC58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Comparis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80C123-FAA4-448A-8E22-53E10D920A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CC5637D-13A3-4136-90D9-F6F6CD6DBDC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535040"/>
            <a:ext cx="403992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36AC343F-E878-406D-A471-FA1D781A459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174760"/>
            <a:ext cx="403992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5125F616-3D28-43B6-ABEC-D237CB2CD02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1535040"/>
            <a:ext cx="404136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87BF1A16-8608-4169-BE57-69C17805DAD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2174760"/>
            <a:ext cx="404136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41B7E583-6E2A-4252-ACFE-704DB359FB22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7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5A0CAC17-B7AE-456F-A878-2AC74A583D11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47DA26AF-F12C-49F1-B75B-09840EA8AF98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335B3173-9225-43C2-B209-5B9A286072F3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 preserve="1">
  <p:cSld name="Title Onl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3763E7A-8BDF-42FF-B600-BE66D1690F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0771A9F-5E40-4573-9443-2E1F837034F5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43924D9-BC3D-45AF-B5D7-5C4EC3730B0E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4D75C19-8865-496F-AD4D-BC0B9D7007B0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1B541422-026A-41A2-BAA3-EBC9553034F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D8E7E9AB-CCF8-494D-ABFF-C27AC1377C7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08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8EE9F77-FF91-4B8B-96EF-F856024B653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6DAC5DA-04CD-4738-B270-588C2F4099D9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AA15843-A8B0-48E9-8A97-4117540375DF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7DBD564E-998E-4A3F-9B53-86B1A84650EE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Content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CC96145-5E18-442F-8206-8CCBE2596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2880"/>
            <a:ext cx="3007800" cy="1161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8FCCA03-DC70-43F0-B211-D832220AB5D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575160" y="272880"/>
            <a:ext cx="5111280" cy="585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0C6F7FF-79BE-46BA-A83C-A90E3D078A3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434960"/>
            <a:ext cx="3007800" cy="46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2D490194-C936-4503-BD7F-114BFB17D8D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0BF7F858-C3B5-46C4-A560-1F4AAAB55EDF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F8ADE7F9-C0F9-4A6D-B40F-06A871881BE2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E9DCBC23-3989-4AE8-8C0A-65784AA9C6E3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Picture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0C4AF98-3128-411F-810B-BA781B94E9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440" y="4800600"/>
            <a:ext cx="5486040" cy="56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A23D7E5-3E3C-43B6-81C3-F4192842F55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612720"/>
            <a:ext cx="5486040" cy="411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B590483-0173-4F5A-A9DB-A1697C5705D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5367240"/>
            <a:ext cx="5486040" cy="80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FFCDFBF4-C5D0-486D-ACE0-36AACB5416C5}"/>
              </a:ext>
            </a:extLst>
          </p:cNvPr>
          <p:cNvSpPr>
            <a:spLocks xmlns:a="http://schemas.openxmlformats.org/drawingml/2006/main" noGrp="1"/>
          </p:cNvSpPr>
          <p:nvPr>
            <p:ph type="dt" idx="3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7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AB82F94-296D-4143-80A5-113DD2E90BCF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8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7A44C1D1-164F-4C15-8894-A44C7F4732EE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98B274AD-299F-487E-9729-FFC20C074CAD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47ecf61a534961" /><Relationship Type="http://schemas.openxmlformats.org/officeDocument/2006/relationships/slideLayout" Target="/ppt/slideLayouts/slideLayout1.xml" Id="Rbd630cd014ae4417" /><Relationship Type="http://schemas.openxmlformats.org/officeDocument/2006/relationships/slideLayout" Target="/ppt/slideLayouts/slideLayout2.xml" Id="R2541562be58342d8" /><Relationship Type="http://schemas.openxmlformats.org/officeDocument/2006/relationships/slideLayout" Target="/ppt/slideLayouts/slideLayout3.xml" Id="Rf6dc6488ce0e4d8b" /><Relationship Type="http://schemas.openxmlformats.org/officeDocument/2006/relationships/slideLayout" Target="/ppt/slideLayouts/slideLayout4.xml" Id="Rdef2c08b885b4d0d" /><Relationship Type="http://schemas.openxmlformats.org/officeDocument/2006/relationships/slideLayout" Target="/ppt/slideLayouts/slideLayout5.xml" Id="R608ad6dc14bc4406" /><Relationship Type="http://schemas.openxmlformats.org/officeDocument/2006/relationships/slideLayout" Target="/ppt/slideLayouts/slideLayout6.xml" Id="R1ab5792f403d4050" /><Relationship Type="http://schemas.openxmlformats.org/officeDocument/2006/relationships/slideLayout" Target="/ppt/slideLayouts/slideLayout7.xml" Id="R90110a8734bc465e" /><Relationship Type="http://schemas.openxmlformats.org/officeDocument/2006/relationships/slideLayout" Target="/ppt/slideLayouts/slideLayout8.xml" Id="R29d2513a639a4751" /><Relationship Type="http://schemas.openxmlformats.org/officeDocument/2006/relationships/slideLayout" Target="/ppt/slideLayouts/slideLayout9.xml" Id="R9fc13524e5344fa5" /><Relationship Type="http://schemas.openxmlformats.org/officeDocument/2006/relationships/slideLayout" Target="/ppt/slideLayouts/slideLayout10.xml" Id="Rb9c3a17bfe3742da" /><Relationship Type="http://schemas.openxmlformats.org/officeDocument/2006/relationships/slideLayout" Target="/ppt/slideLayouts/slideLayout11.xml" Id="R850f0d452acc46b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630cd014ae4417"/>
    <p:sldLayoutId xmlns:r="http://schemas.openxmlformats.org/officeDocument/2006/relationships" id="2147483650" r:id="R2541562be58342d8"/>
    <p:sldLayoutId xmlns:r="http://schemas.openxmlformats.org/officeDocument/2006/relationships" id="2147483651" r:id="Rf6dc6488ce0e4d8b"/>
    <p:sldLayoutId xmlns:r="http://schemas.openxmlformats.org/officeDocument/2006/relationships" id="2147483652" r:id="Rdef2c08b885b4d0d"/>
    <p:sldLayoutId xmlns:r="http://schemas.openxmlformats.org/officeDocument/2006/relationships" id="2147483653" r:id="R608ad6dc14bc4406"/>
    <p:sldLayoutId xmlns:r="http://schemas.openxmlformats.org/officeDocument/2006/relationships" id="2147483654" r:id="R1ab5792f403d4050"/>
    <p:sldLayoutId xmlns:r="http://schemas.openxmlformats.org/officeDocument/2006/relationships" id="2147483655" r:id="R90110a8734bc465e"/>
    <p:sldLayoutId xmlns:r="http://schemas.openxmlformats.org/officeDocument/2006/relationships" id="2147483656" r:id="R29d2513a639a4751"/>
    <p:sldLayoutId xmlns:r="http://schemas.openxmlformats.org/officeDocument/2006/relationships" id="2147483657" r:id="R9fc13524e5344fa5"/>
    <p:sldLayoutId xmlns:r="http://schemas.openxmlformats.org/officeDocument/2006/relationships" id="2147483658" r:id="Rb9c3a17bfe3742da"/>
    <p:sldLayoutId xmlns:r="http://schemas.openxmlformats.org/officeDocument/2006/relationships" id="2147483659" r:id="R850f0d452acc46bf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31863a4104367" /><Relationship Type="http://schemas.openxmlformats.org/officeDocument/2006/relationships/notesSlide" Target="/ppt/notesSlides/notesSlide1.xml" Id="R24620b81b0b440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cd48be880484bcb" /><Relationship Type="http://schemas.openxmlformats.org/officeDocument/2006/relationships/notesSlide" Target="/ppt/notesSlides/notesSlide2.xml" Id="R14fe98d6de8240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873844a73aa4f9a" /><Relationship Type="http://schemas.openxmlformats.org/officeDocument/2006/relationships/notesSlide" Target="/ppt/notesSlides/notesSlide3.xml" Id="R1a7f00847e3e4b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abed6e0670943f7" /><Relationship Type="http://schemas.openxmlformats.org/officeDocument/2006/relationships/chart" Target="/ppt/slides/charts/chart1.xml" Id="R7ba883996ff6444d" /><Relationship Type="http://schemas.openxmlformats.org/officeDocument/2006/relationships/notesSlide" Target="/ppt/notesSlides/notesSlide4.xml" Id="Re226f7c8c72a44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2aa03369cc443c0" /><Relationship Type="http://schemas.openxmlformats.org/officeDocument/2006/relationships/chart" Target="/ppt/slides/charts/chart2.xml" Id="R3f5553f40f6049bd" /><Relationship Type="http://schemas.openxmlformats.org/officeDocument/2006/relationships/notesSlide" Target="/ppt/notesSlides/notesSlide5.xml" Id="Re61a83b53d0b49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fcaf2b736464cc9" /><Relationship Type="http://schemas.openxmlformats.org/officeDocument/2006/relationships/chart" Target="/ppt/slides/charts/chart3.xml" Id="Rce87028068364c8c" /><Relationship Type="http://schemas.openxmlformats.org/officeDocument/2006/relationships/notesSlide" Target="/ppt/notesSlides/notesSlide6.xml" Id="R8591d3117c0843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0ca215b3c27440a" /><Relationship Type="http://schemas.openxmlformats.org/officeDocument/2006/relationships/chart" Target="/ppt/slides/charts/chart4.xml" Id="Rc97fa2d8556b4236" /><Relationship Type="http://schemas.openxmlformats.org/officeDocument/2006/relationships/notesSlide" Target="/ppt/notesSlides/notesSlide7.xml" Id="R74a730b2849848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bde62988c0e4f5f" /><Relationship Type="http://schemas.openxmlformats.org/officeDocument/2006/relationships/chart" Target="/ppt/slides/charts/chart5.xml" Id="R27cd729fa30d43bd" /><Relationship Type="http://schemas.openxmlformats.org/officeDocument/2006/relationships/notesSlide" Target="/ppt/notesSlides/notesSlide8.xml" Id="Rda737f2cf2614b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5207b690ba4431d" /><Relationship Type="http://schemas.openxmlformats.org/officeDocument/2006/relationships/notesSlide" Target="/ppt/notesSlides/notesSlide9.xml" Id="R8c816f7f33184ed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1C718C"/>
            </a:solidFill>
          </c:spPr>
          <c:cat>
            <c:strLit>
              <c:ptCount val="3"/>
              <c:pt idx="0">
                <c:v>Regresión logística</c:v>
              </c:pt>
              <c:pt idx="1">
                <c:v>Random Forest</c:v>
              </c:pt>
              <c:pt idx="2">
                <c:v>Red neuronal MLP</c:v>
              </c:pt>
            </c:strLit>
          </c:cat>
          <c:val>
            <c:numLit>
              <c:formatCode>0.000</c:formatCode>
              <c:ptCount val="3"/>
              <c:pt idx="0">
                <c:v>0.8187228</c:v>
              </c:pt>
              <c:pt idx="1">
                <c:v>0.8099931</c:v>
              </c:pt>
              <c:pt idx="2">
                <c:v>0.768415</c:v>
              </c:pt>
            </c:numLit>
          </c:val>
        </c:ser>
        <c:ser>
          <c:idx val="1"/>
          <c:order val="1"/>
          <c:tx>
            <c:v>PR-AUC</c:v>
          </c:tx>
          <c:spPr>
            <a:solidFill xmlns:a="http://schemas.openxmlformats.org/drawingml/2006/main">
              <a:srgbClr val="62C6C0"/>
            </a:solidFill>
          </c:spPr>
          <c:cat>
            <c:strLit>
              <c:ptCount val="3"/>
              <c:pt idx="0">
                <c:v>Regresión logística</c:v>
              </c:pt>
              <c:pt idx="1">
                <c:v>Random Forest</c:v>
              </c:pt>
              <c:pt idx="2">
                <c:v>Red neuronal MLP</c:v>
              </c:pt>
            </c:strLit>
          </c:cat>
          <c:val>
            <c:numLit>
              <c:formatCode>0.000</c:formatCode>
              <c:ptCount val="3"/>
              <c:pt idx="0">
                <c:v>0.5524991</c:v>
              </c:pt>
              <c:pt idx="1">
                <c:v>0.5323894</c:v>
              </c:pt>
              <c:pt idx="2">
                <c:v>0.4839745</c:v>
              </c:pt>
            </c:numLit>
          </c:val>
        </c:ser>
        <c:ser>
          <c:idx val="2"/>
          <c:order val="2"/>
          <c:tx>
            <c:v>F1 ajustado</c:v>
          </c:tx>
          <c:spPr>
            <a:solidFill xmlns:a="http://schemas.openxmlformats.org/drawingml/2006/main">
              <a:srgbClr val="DDAA1C"/>
            </a:solidFill>
          </c:spPr>
          <c:cat>
            <c:strLit>
              <c:ptCount val="3"/>
              <c:pt idx="0">
                <c:v>Regresión logística</c:v>
              </c:pt>
              <c:pt idx="1">
                <c:v>Random Forest</c:v>
              </c:pt>
              <c:pt idx="2">
                <c:v>Red neuronal MLP</c:v>
              </c:pt>
            </c:strLit>
          </c:cat>
          <c:val>
            <c:numLit>
              <c:formatCode>0.000</c:formatCode>
              <c:ptCount val="3"/>
              <c:pt idx="0">
                <c:v>0.5333333</c:v>
              </c:pt>
              <c:pt idx="1">
                <c:v>0.5441696</c:v>
              </c:pt>
              <c:pt idx="2">
                <c:v>0.4701349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03248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3248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Valor de la métrica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3248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203248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Número de puntuaciones</c:v>
          </c:tx>
          <c:spPr>
            <a:solidFill xmlns:a="http://schemas.openxmlformats.org/drawingml/2006/main">
              <a:srgbClr val="3479A5"/>
            </a:solidFill>
          </c:spPr>
          <c:cat>
            <c:strLit>
              <c:ptCount val="10"/>
              <c:pt idx="0">
                <c:v>0,00-0,10</c:v>
              </c:pt>
              <c:pt idx="1">
                <c:v>0,10-0,20</c:v>
              </c:pt>
              <c:pt idx="2">
                <c:v>0,20-0,30</c:v>
              </c:pt>
              <c:pt idx="3">
                <c:v>0,30-0,40</c:v>
              </c:pt>
              <c:pt idx="4">
                <c:v>0,40-0,50</c:v>
              </c:pt>
              <c:pt idx="5">
                <c:v>0,50-0,60</c:v>
              </c:pt>
              <c:pt idx="6">
                <c:v>0,60-0,70</c:v>
              </c:pt>
              <c:pt idx="7">
                <c:v>0,70-0,80</c:v>
              </c:pt>
              <c:pt idx="8">
                <c:v>0,80-0,90</c:v>
              </c:pt>
              <c:pt idx="9">
                <c:v>0,90-1,00</c:v>
              </c:pt>
            </c:strLit>
          </c:cat>
          <c:val>
            <c:numLit>
              <c:formatCode>General</c:formatCode>
              <c:ptCount val="10"/>
              <c:pt idx="0">
                <c:v>387</c:v>
              </c:pt>
              <c:pt idx="1">
                <c:v>229</c:v>
              </c:pt>
              <c:pt idx="2">
                <c:v>157</c:v>
              </c:pt>
              <c:pt idx="3">
                <c:v>114</c:v>
              </c:pt>
              <c:pt idx="4">
                <c:v>123</c:v>
              </c:pt>
              <c:pt idx="5">
                <c:v>103</c:v>
              </c:pt>
              <c:pt idx="6">
                <c:v>90</c:v>
              </c:pt>
              <c:pt idx="7">
                <c:v>114</c:v>
              </c:pt>
              <c:pt idx="8">
                <c:v>90</c:v>
              </c:pt>
              <c:pt idx="9">
                <c:v>63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03248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03248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Número de casos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3248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Tasa de rotación observada (%)</c:v>
          </c:tx>
          <c:spPr>
            <a:solidFill xmlns:a="http://schemas.openxmlformats.org/drawingml/2006/main">
              <a:srgbClr val="4B9B8F"/>
            </a:solidFill>
          </c:spPr>
          <c:cat>
            <c:strLit>
              <c:ptCount val="3"/>
              <c:pt idx="0">
                <c:v>Ventas</c:v>
              </c:pt>
              <c:pt idx="1">
                <c:v>Recursos Humanos</c:v>
              </c:pt>
              <c:pt idx="2">
                <c:v>Investigación y Desarrollo</c:v>
              </c:pt>
            </c:strLit>
          </c:cat>
          <c:val>
            <c:numLit>
              <c:formatCode>0.0"%"</c:formatCode>
              <c:ptCount val="3"/>
              <c:pt idx="0">
                <c:v>20.6</c:v>
              </c:pt>
              <c:pt idx="1">
                <c:v>19</c:v>
              </c:pt>
              <c:pt idx="2">
                <c:v>13.8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03248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Tasa observada (%)</a:t>
                </a:r>
              </a:p>
            </c:rich>
          </c:tx>
          <c:overlay val="0"/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3248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3248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Tasa de rotación observada (%)</c:v>
          </c:tx>
          <c:spPr>
            <a:solidFill xmlns:a="http://schemas.openxmlformats.org/drawingml/2006/main">
              <a:srgbClr val="D97867"/>
            </a:solidFill>
          </c:spPr>
          <c:cat>
            <c:strLit>
              <c:ptCount val="2"/>
              <c:pt idx="0">
                <c:v>Sin horas extra</c:v>
              </c:pt>
              <c:pt idx="1">
                <c:v>Con horas extra</c:v>
              </c:pt>
            </c:strLit>
          </c:cat>
          <c:val>
            <c:numLit>
              <c:formatCode>0.0"%"</c:formatCode>
              <c:ptCount val="2"/>
              <c:pt idx="0">
                <c:v>10.4</c:v>
              </c:pt>
              <c:pt idx="1">
                <c:v>30.5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03248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3248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Tasa observada (%)</a:t>
                </a:r>
              </a:p>
            </c:rich>
          </c:tx>
          <c:overlay val="0"/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3248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Magnitud absoluta del coeficiente</c:v>
          </c:tx>
          <c:spPr>
            <a:solidFill xmlns:a="http://schemas.openxmlformats.org/drawingml/2006/main">
              <a:srgbClr val="1C718C"/>
            </a:solidFill>
          </c:spPr>
          <c:cat>
            <c:strLit>
              <c:ptCount val="10"/>
              <c:pt idx="0">
                <c:v>Director/a de investigación (−)</c:v>
              </c:pt>
              <c:pt idx="1">
                <c:v>Representante de ventas (+)</c:v>
              </c:pt>
              <c:pt idx="2">
                <c:v>Viajes frecuentes (+)</c:v>
              </c:pt>
              <c:pt idx="3">
                <c:v>Sin viajes de trabajo (−)</c:v>
              </c:pt>
              <c:pt idx="4">
                <c:v>Técnico de laboratorio (+)</c:v>
              </c:pt>
              <c:pt idx="5">
                <c:v>Puesto en Recursos Humanos (+)</c:v>
              </c:pt>
              <c:pt idx="6">
                <c:v>Años en la empresa (+)</c:v>
              </c:pt>
              <c:pt idx="7">
                <c:v>Estado civil: soltero/a (+)</c:v>
              </c:pt>
              <c:pt idx="8">
                <c:v>Formación técnica (+)</c:v>
              </c:pt>
              <c:pt idx="9">
                <c:v>Representante sanitario (−)</c:v>
              </c:pt>
            </c:strLit>
          </c:cat>
          <c:val>
            <c:numLit>
              <c:formatCode>0.00</c:formatCode>
              <c:ptCount val="10"/>
              <c:pt idx="0">
                <c:v>1.1213311205615677</c:v>
              </c:pt>
              <c:pt idx="1">
                <c:v>1.069968285893788</c:v>
              </c:pt>
              <c:pt idx="2">
                <c:v>0.8561488203338481</c:v>
              </c:pt>
              <c:pt idx="3">
                <c:v>0.849797629575816</c:v>
              </c:pt>
              <c:pt idx="4">
                <c:v>0.820042</c:v>
              </c:pt>
              <c:pt idx="5">
                <c:v>0.783635</c:v>
              </c:pt>
              <c:pt idx="6">
                <c:v>0.768481</c:v>
              </c:pt>
              <c:pt idx="7">
                <c:v>0.739248</c:v>
              </c:pt>
              <c:pt idx="8">
                <c:v>0.697052</c:v>
              </c:pt>
              <c:pt idx="9">
                <c:v>0.645812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03248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Magnitud absoluta del coeficiente</a:t>
                </a:r>
              </a:p>
            </c:rich>
          </c:tx>
          <c:overlay val="0"/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3248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03248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23A367D-FD84-49F8-AF2D-0779481DBA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30480"/>
            <a:ext cx="7772040" cy="146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Predicción de rotación de empleados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C53B876-F98F-455F-8CFD-759CAEFF3F88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371600" y="3886200"/>
            <a:ext cx="6400440" cy="175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sz="3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Proyecto educativo · Big Data · PySpark · aprendizaje automático · Power BI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2507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3A80CDC-29D0-442F-8406-74BEDDE2A9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Alcance del proyecto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A351A14-C962-45F2-863E-8C30FDD9AA8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Clasificación de Attrition y preparación de datos con PySpark.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Comparación de Regresión Logística, Random Forest y MLP.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Validación cruzada estratificada en cinco particiones.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Lectura de métricas y puntuaciones por departamento y variables laborales.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Recomendaciones para priorizar diagnósticos y acciones de retención.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11130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AB6FCB5-5C27-4A40-86A2-B59AFB49E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Proceso de análisis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842B893-A08C-465F-AA27-8DC6A08487EA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Comprobar la calidad de claves y datos de entrada.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Generar la encuesta con semilla fija e integrarla mediante EmployeeNumber.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Crear la etiqueta de rotación y las variables derivadas con PySpark.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Entrenar tres modelos con variables numéricas y categóricas.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Relacionar métricas, tasas y puntuaciones con prioridades por área.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43753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5E0130A-3CA4-4060-A9FD-904D0A35EC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20000" y="11736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Comparación de los modelos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TextBox 3">
            <a:extLst xmlns:a="http://schemas.openxmlformats.org/drawingml/2006/main">
              <a:ext uri="{FF2B5EF4-FFF2-40B4-BE49-F238E27FC236}">
                <a16:creationId xmlns:a16="http://schemas.microsoft.com/office/drawing/2014/main" id="{D179EA43-F748-45D7-9F30-071F40E1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263640"/>
            <a:ext cx="114598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La gráfica compara ROC-AUC, PR-AUC y F1: Regresión Logística lidera ROC/PR; Random Forest, F1.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ondo gráfico 4">
            <a:extLst xmlns:a="http://schemas.openxmlformats.org/drawingml/2006/main">
              <a:ext uri="{FF2B5EF4-FFF2-40B4-BE49-F238E27FC236}">
                <a16:creationId xmlns:a16="http://schemas.microsoft.com/office/drawing/2014/main" id="{531909E2-0426-4DFE-AFD7-AAA0EA1C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952500"/>
            <a:ext cx="708660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80" name="Chart"/>
          <p:cNvGraphicFramePr/>
          <p:nvPr/>
        </p:nvGraphicFramePr>
        <p:xfrm>
          <a:off xmlns:a="http://schemas.openxmlformats.org/drawingml/2006/main" x="2095500" y="1171575"/>
          <a:ext xmlns:a="http://schemas.openxmlformats.org/drawingml/2006/main" cx="80010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a883996ff6444d"/>
          </a:graphicData>
        </a:graphic>
      </p:graphicFrame>
    </p:spTree>
    <p:extLst>
      <p:ext uri="{BB962C8B-B14F-4D97-AF65-F5344CB8AC3E}">
        <p14:creationId xmlns:p14="http://schemas.microsoft.com/office/powerpoint/2010/main" val="15071524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D52C905-F951-4F11-BF40-C3409FEC2B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960" y="131400"/>
            <a:ext cx="11242800" cy="1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Distribución de puntuaciones predichas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TextBox 3">
            <a:extLst xmlns:a="http://schemas.openxmlformats.org/drawingml/2006/main">
              <a:ext uri="{FF2B5EF4-FFF2-40B4-BE49-F238E27FC236}">
                <a16:creationId xmlns:a16="http://schemas.microsoft.com/office/drawing/2014/main" id="{D89E5E77-4B58-410D-B4A2-D67E59D8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263640"/>
            <a:ext cx="114598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Las 1.470 puntuaciones OOF se agrupan en intervalos de 0,10; 773 quedan por debajo de 0,30.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ondo gráfico 5">
            <a:extLst xmlns:a="http://schemas.openxmlformats.org/drawingml/2006/main">
              <a:ext uri="{FF2B5EF4-FFF2-40B4-BE49-F238E27FC236}">
                <a16:creationId xmlns:a16="http://schemas.microsoft.com/office/drawing/2014/main" id="{159EFCAB-93CF-4983-AD99-0D5D834E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952500"/>
            <a:ext cx="708660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83" name="Chart"/>
          <p:cNvGraphicFramePr/>
          <p:nvPr/>
        </p:nvGraphicFramePr>
        <p:xfrm>
          <a:off xmlns:a="http://schemas.openxmlformats.org/drawingml/2006/main" x="2095500" y="1171575"/>
          <a:ext xmlns:a="http://schemas.openxmlformats.org/drawingml/2006/main" cx="80010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5553f40f6049bd"/>
          </a:graphicData>
        </a:graphic>
      </p:graphicFrame>
    </p:spTree>
    <p:extLst>
      <p:ext uri="{BB962C8B-B14F-4D97-AF65-F5344CB8AC3E}">
        <p14:creationId xmlns:p14="http://schemas.microsoft.com/office/powerpoint/2010/main" val="3035056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8DF6AE7-B196-4300-BDC9-E0722C6EA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200" y="180000"/>
            <a:ext cx="10522800" cy="80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Rotación observada por departamento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TextBox 3">
            <a:extLst xmlns:a="http://schemas.openxmlformats.org/drawingml/2006/main">
              <a:ext uri="{FF2B5EF4-FFF2-40B4-BE49-F238E27FC236}">
                <a16:creationId xmlns:a16="http://schemas.microsoft.com/office/drawing/2014/main" id="{8BD09EE3-65E6-4BF7-8BB4-A3EB9FD7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6263640"/>
            <a:ext cx="114598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Ventas registra 20,6 % (92/446), RR. HH. 19,0 % (12/63) e I+D 13,8 % (133/961).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Fondo gráfico 6">
            <a:extLst xmlns:a="http://schemas.openxmlformats.org/drawingml/2006/main">
              <a:ext uri="{FF2B5EF4-FFF2-40B4-BE49-F238E27FC236}">
                <a16:creationId xmlns:a16="http://schemas.microsoft.com/office/drawing/2014/main" id="{00442256-553E-4777-B321-F210439A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952500"/>
            <a:ext cx="708660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86" name="Chart"/>
          <p:cNvGraphicFramePr/>
          <p:nvPr/>
        </p:nvGraphicFramePr>
        <p:xfrm>
          <a:off xmlns:a="http://schemas.openxmlformats.org/drawingml/2006/main" x="2095500" y="1171575"/>
          <a:ext xmlns:a="http://schemas.openxmlformats.org/drawingml/2006/main" cx="80010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87028068364c8c"/>
          </a:graphicData>
        </a:graphic>
      </p:graphicFrame>
    </p:spTree>
    <p:extLst>
      <p:ext uri="{BB962C8B-B14F-4D97-AF65-F5344CB8AC3E}">
        <p14:creationId xmlns:p14="http://schemas.microsoft.com/office/powerpoint/2010/main" val="16726910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4C86444-1BAA-4375-A625-51721868B1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180000"/>
            <a:ext cx="11242800" cy="80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Rotación observada y horas extra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TextBox 3">
            <a:extLst xmlns:a="http://schemas.openxmlformats.org/drawingml/2006/main">
              <a:ext uri="{FF2B5EF4-FFF2-40B4-BE49-F238E27FC236}">
                <a16:creationId xmlns:a16="http://schemas.microsoft.com/office/drawing/2014/main" id="{3DBC67BC-AB62-47CE-B97D-EBE84C4A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80" y="6263640"/>
            <a:ext cx="114598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Rotación observada: 30,5 % con horas extra (127/416) y 10,4 % sin ellas (110/1.054).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Fondo gráfico 7">
            <a:extLst xmlns:a="http://schemas.openxmlformats.org/drawingml/2006/main">
              <a:ext uri="{FF2B5EF4-FFF2-40B4-BE49-F238E27FC236}">
                <a16:creationId xmlns:a16="http://schemas.microsoft.com/office/drawing/2014/main" id="{070F6796-76D7-4070-820D-83D2D009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952500"/>
            <a:ext cx="708660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89" name="Chart"/>
          <p:cNvGraphicFramePr/>
          <p:nvPr/>
        </p:nvGraphicFramePr>
        <p:xfrm>
          <a:off xmlns:a="http://schemas.openxmlformats.org/drawingml/2006/main" x="2095500" y="1171575"/>
          <a:ext xmlns:a="http://schemas.openxmlformats.org/drawingml/2006/main" cx="80010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7fa2d8556b4236"/>
          </a:graphicData>
        </a:graphic>
      </p:graphicFrame>
    </p:spTree>
    <p:extLst>
      <p:ext uri="{BB962C8B-B14F-4D97-AF65-F5344CB8AC3E}">
        <p14:creationId xmlns:p14="http://schemas.microsoft.com/office/powerpoint/2010/main" val="14617872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85DE502-EFBA-44FD-BADB-C6C6814362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7200" y="0"/>
            <a:ext cx="11062800" cy="98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Coeficientes de la regresión logística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TextBox 3">
            <a:extLst xmlns:a="http://schemas.openxmlformats.org/drawingml/2006/main">
              <a:ext uri="{FF2B5EF4-FFF2-40B4-BE49-F238E27FC236}">
                <a16:creationId xmlns:a16="http://schemas.microsoft.com/office/drawing/2014/main" id="{AF3E641E-B559-4B63-B439-358EDFBB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40" y="6263640"/>
            <a:ext cx="114598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Representante de ventas (+1,070) y viajes frecuentes (+0,856) destacan entre las señales asociadas del modelo.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ondo gráfico 8">
            <a:extLst xmlns:a="http://schemas.openxmlformats.org/drawingml/2006/main">
              <a:ext uri="{FF2B5EF4-FFF2-40B4-BE49-F238E27FC236}">
                <a16:creationId xmlns:a16="http://schemas.microsoft.com/office/drawing/2014/main" id="{09819C8A-8FE9-4AF3-8A81-CA1D404C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952500"/>
            <a:ext cx="708660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92" name="Chart"/>
          <p:cNvGraphicFramePr/>
          <p:nvPr/>
        </p:nvGraphicFramePr>
        <p:xfrm>
          <a:off xmlns:a="http://schemas.openxmlformats.org/drawingml/2006/main" x="2095500" y="1171575"/>
          <a:ext xmlns:a="http://schemas.openxmlformats.org/drawingml/2006/main" cx="80010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cd729fa30d43bd"/>
          </a:graphicData>
        </a:graphic>
      </p:graphicFrame>
    </p:spTree>
    <p:extLst>
      <p:ext uri="{BB962C8B-B14F-4D97-AF65-F5344CB8AC3E}">
        <p14:creationId xmlns:p14="http://schemas.microsoft.com/office/powerpoint/2010/main" val="782406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7F62F03-CE33-4FE9-9DF1-F95A7525FF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Conclusiones y prioridades para dirección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F0B9206-BCA7-49C5-B770-F20910E47C4A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75488" y="1490472"/>
            <a:ext cx="11201400" cy="5074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4864" tIns="18288" rIns="54864" bIns="18288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Modelos: Regresión Logística lidera ROC-AUC/PR-AUC (0,819/0,552); </a:t>
            </a: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Random Forest obtiene el F1 comparativo más alto (0,544). Umbral OOF de Regresión Logística: 0,732.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Ventas (20,6 %; 92/446; 104 señales): revisar viajes, objetivos y carga comercial.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I+D (13,8 %; 133/961; 115 señales): priorizar equipos y puestos con más salidas.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Horas extra (30,5 % frente a 10,4 %): revisar turnos y distribuir mejor la carga.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Recursos Humanos (19 %; 12/63; 9 señales): ajustar revisión al tamaño del área. Iniciar pilotos en Ventas y equipos con más horas extra; medir antes y después.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83974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2026-10-04T20:45:32.6350000Z</dcterms:created>
  <dcterms:modified xsi:type="dcterms:W3CDTF">2026-10-04T20:45:32.6350000Z</dcterms:modified>
</coreProperties>
</file>