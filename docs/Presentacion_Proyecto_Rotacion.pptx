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1e29d94baf45d8" /><Relationship Type="http://schemas.openxmlformats.org/officeDocument/2006/relationships/extended-properties" Target="/docProps/app.xml" Id="Rf9afaba9e4884aef" /><Relationship Type="http://schemas.openxmlformats.org/officeDocument/2006/relationships/officeDocument" Target="/ppt/presentation.xml" Id="R76a64111e5b94d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6f805d99dd44ba"/>
  </p:sldMasterIdLst>
  <p:notesMasterIdLst>
    <p:notesMasterId xmlns:r="http://schemas.openxmlformats.org/officeDocument/2006/relationships" r:id="R97a8917883244c87"/>
  </p:notesMasterIdLst>
  <p:sldIdLst>
    <p:sldId xmlns:r="http://schemas.openxmlformats.org/officeDocument/2006/relationships" id="256" r:id="R82b0342d2bf34755"/>
    <p:sldId xmlns:r="http://schemas.openxmlformats.org/officeDocument/2006/relationships" id="257" r:id="R33dd6ffded5a42a0"/>
    <p:sldId xmlns:r="http://schemas.openxmlformats.org/officeDocument/2006/relationships" id="258" r:id="R7f55d0d02f6a4c39"/>
    <p:sldId xmlns:r="http://schemas.openxmlformats.org/officeDocument/2006/relationships" id="259" r:id="R373c1dfa4e51492c"/>
    <p:sldId xmlns:r="http://schemas.openxmlformats.org/officeDocument/2006/relationships" id="260" r:id="R294ef80b0e8845fb"/>
    <p:sldId xmlns:r="http://schemas.openxmlformats.org/officeDocument/2006/relationships" id="261" r:id="R9358700a9b0641c8"/>
    <p:sldId xmlns:r="http://schemas.openxmlformats.org/officeDocument/2006/relationships" id="262" r:id="R54c7b98f49a74c46"/>
    <p:sldId xmlns:r="http://schemas.openxmlformats.org/officeDocument/2006/relationships" id="263" r:id="Rf8982be3a5ce4b12"/>
    <p:sldId xmlns:r="http://schemas.openxmlformats.org/officeDocument/2006/relationships" id="264" r:id="Rfd597fcd62ef470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e23f2276ca40fd" /><Relationship Type="http://schemas.openxmlformats.org/officeDocument/2006/relationships/slideMaster" Target="/ppt/slideMasters/slideMaster1.xml" Id="R446f805d99dd44ba" /><Relationship Type="http://schemas.openxmlformats.org/officeDocument/2006/relationships/notesMaster" Target="/ppt/notesMasters/notesMaster1.xml" Id="R97a8917883244c87" /><Relationship Type="http://schemas.openxmlformats.org/officeDocument/2006/relationships/presProps" Target="/ppt/presProps.xml" Id="R9009f39161c64a18" /><Relationship Type="http://schemas.openxmlformats.org/officeDocument/2006/relationships/tableStyles" Target="/ppt/tableStyles.xml" Id="Rafa22076103a45b9" /><Relationship Type="http://schemas.openxmlformats.org/officeDocument/2006/relationships/slide" Target="/ppt/slides/slide1.xml" Id="R82b0342d2bf34755" /><Relationship Type="http://schemas.openxmlformats.org/officeDocument/2006/relationships/slide" Target="/ppt/slides/slide2.xml" Id="R33dd6ffded5a42a0" /><Relationship Type="http://schemas.openxmlformats.org/officeDocument/2006/relationships/slide" Target="/ppt/slides/slide3.xml" Id="R7f55d0d02f6a4c39" /><Relationship Type="http://schemas.openxmlformats.org/officeDocument/2006/relationships/slide" Target="/ppt/slides/slide4.xml" Id="R373c1dfa4e51492c" /><Relationship Type="http://schemas.openxmlformats.org/officeDocument/2006/relationships/slide" Target="/ppt/slides/slide5.xml" Id="R294ef80b0e8845fb" /><Relationship Type="http://schemas.openxmlformats.org/officeDocument/2006/relationships/slide" Target="/ppt/slides/slide6.xml" Id="R9358700a9b0641c8" /><Relationship Type="http://schemas.openxmlformats.org/officeDocument/2006/relationships/slide" Target="/ppt/slides/slide7.xml" Id="R54c7b98f49a74c46" /><Relationship Type="http://schemas.openxmlformats.org/officeDocument/2006/relationships/slide" Target="/ppt/slides/slide8.xml" Id="Rf8982be3a5ce4b12" /><Relationship Type="http://schemas.openxmlformats.org/officeDocument/2006/relationships/slide" Target="/ppt/slides/slide9.xml" Id="Rfd597fcd62ef47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24fad6ac8a49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ef269adb804fcd" /><Relationship Type="http://schemas.openxmlformats.org/officeDocument/2006/relationships/notesMaster" Target="/ppt/notesMasters/notesMaster1.xml" Id="R9c6721c38b5944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3617f26e7a4415" /><Relationship Type="http://schemas.openxmlformats.org/officeDocument/2006/relationships/notesMaster" Target="/ppt/notesMasters/notesMaster1.xml" Id="R710de63f69b842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c4091ea558463d" /><Relationship Type="http://schemas.openxmlformats.org/officeDocument/2006/relationships/notesMaster" Target="/ppt/notesMasters/notesMaster1.xml" Id="R455554bdfede49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344d42169944b7" /><Relationship Type="http://schemas.openxmlformats.org/officeDocument/2006/relationships/notesMaster" Target="/ppt/notesMasters/notesMaster1.xml" Id="Rfaa6383526324e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befd2e33af4063" /><Relationship Type="http://schemas.openxmlformats.org/officeDocument/2006/relationships/notesMaster" Target="/ppt/notesMasters/notesMaster1.xml" Id="R9689036edacd48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1e7209de2449a1" /><Relationship Type="http://schemas.openxmlformats.org/officeDocument/2006/relationships/notesMaster" Target="/ppt/notesMasters/notesMaster1.xml" Id="R101d9309045941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2949a360394647" /><Relationship Type="http://schemas.openxmlformats.org/officeDocument/2006/relationships/notesMaster" Target="/ppt/notesMasters/notesMaster1.xml" Id="R180b397484e34b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0703030532447c" /><Relationship Type="http://schemas.openxmlformats.org/officeDocument/2006/relationships/notesMaster" Target="/ppt/notesMasters/notesMaster1.xml" Id="Rc3330117227045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7b2479016446f2" /><Relationship Type="http://schemas.openxmlformats.org/officeDocument/2006/relationships/notesMaster" Target="/ppt/notesMasters/notesMaster1.xml" Id="R3a0ec57855314f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Proyecto educativo de Big Data y analítica de Recursos Humanos. El recorrido integra datos, compara modelos y traduce resultados a prioridades para una empresa hipotética.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diapositiva resume el objetivo: preparar los datos, comparar tres clasificadores y orientar diagnósticos y acciones de retención por área.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flujo comienza con controles de calidad, integra la encuesta mediante EmployeeNumber, construye variables con PySpark, compara los clasificadores y exporta métricas y gráficos.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gráfica compara ROC-AUC, PR-AUC y F1 de los tres modelos con predicciones OOF. Regresión Logística lidera ROC-AUC y PR-AUC; Random Forest obtiene el F1 comparativo más alto.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histograma agrupa 1.470 puntuaciones OOF de Regresión Logística en intervalos de 0,10; 773 valores (52,6 %) quedan por debajo de 0,30.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gráfico compara las tasas observadas por departamento: Ventas 20,6 % (92/446), Recursos Humanos 19,0 % (12/63) e Investigación y Desarrollo 13,8 % (133/961).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visualización contrasta la tasa observada con y sin horas extra. La diferencia orienta una revisión de turnos y distribución de carga.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Entre los coeficientes de mayor magnitud figuran representante de ventas (+1,070), viajes frecuentes (+0,856) y director/a de investigación (−1,121). Estos valores ayudan a concretar preguntas para los responsables de cada área.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Regresión Logística ordena mejor por ROC-AUC (0,819) y PR-AUC (0,552); Random Forest alcanza el mayor F1 (0,544). Al umbral comparativo 0,732, las predicciones OOF de Regresión Logística reúnen 228 señales: 104 en Ventas, 115 en I+D y 9 en RR. HH. Se propone revisar primero Ventas por tasa y, en paralelo, I+D por volumen; después, seguir la evolución de horas extra, equipos y áreas tras cada acción.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69a6b7eec946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89b04eaec5424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0b8b4860a0447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c595b855b447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e6e2d65c1f468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d8109182c7469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ee114b7bb461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ebc1178aa54bb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d5c202b16c43e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64da51e71b4a9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2d6c2775146a0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045BEB-2A0E-4CE6-BB6B-54367B6FD4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400B048-375F-4CCE-8677-D24244CEB6B0}"/>
              </a:ext>
            </a:extLst>
          </p:cNvPr>
          <p:cNvSpPr>
            <a:spLocks xmlns:a="http://schemas.openxmlformats.org/drawingml/2006/main" noGrp="1"/>
          </p:cNvSpPr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534ED38-BE2E-4097-BF42-7AA9C1DD938A}"/>
              </a:ext>
            </a:extLst>
          </p:cNvPr>
          <p:cNvSpPr>
            <a:spLocks xmlns:a="http://schemas.openxmlformats.org/drawingml/2006/main" noGrp="1"/>
          </p:cNvSpPr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1FA4F4A-79B3-4B01-83EB-FC6B69468BEF}"/>
              </a:ext>
            </a:extLst>
          </p:cNvPr>
          <p:cNvSpPr>
            <a:spLocks xmlns:a="http://schemas.openxmlformats.org/drawingml/2006/main" noGrp="1"/>
          </p:cNvSpPr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C1F15649-DE97-4D31-AB74-DF95F7F404A2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D78EDD1-9F93-4766-A3B3-544BB64CE98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type="vertTx" preserve="1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818B03-43EF-471D-9B0F-806B50EAD5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8F42C79-D9B9-4690-810F-822A8E495F0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F77D8B3-B6C4-49BF-A6ED-3FE7884837C6}"/>
              </a:ext>
            </a:extLst>
          </p:cNvPr>
          <p:cNvSpPr>
            <a:spLocks xmlns:a="http://schemas.openxmlformats.org/drawingml/2006/main" noGrp="1"/>
          </p:cNvSpPr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C489B14-863F-47CC-8615-6159481E669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9841976-2504-4DC8-AC01-91F582216535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09F07B7-EBC3-4A18-A366-933C874466B9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type="vertTitleAndTx" preserve="1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CB3FCA-F927-42AD-B435-F5CA19FF2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97F264-EB23-43F7-BE6E-A83A74F05C7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9C3D623-7E4C-4D4F-824F-A46044981564}"/>
              </a:ext>
            </a:extLst>
          </p:cNvPr>
          <p:cNvSpPr>
            <a:spLocks xmlns:a="http://schemas.openxmlformats.org/drawingml/2006/main" noGrp="1"/>
          </p:cNvSpPr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EB213CB-45ED-4265-8C41-9E860FD5EBEC}"/>
              </a:ext>
            </a:extLst>
          </p:cNvPr>
          <p:cNvSpPr>
            <a:spLocks xmlns:a="http://schemas.openxmlformats.org/drawingml/2006/main" noGrp="1"/>
          </p:cNvSpPr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965281D-21E0-445E-99DC-518C9F0DCA75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992E60D-EFD5-41CD-9019-06F17E86CF4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CFB4A70-63BE-4A86-A10C-127F6FC519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D98FA3C-7042-403B-B90B-40EBE66E00A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B205F6A-5C20-4B77-95E7-B2740AD564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B5B0793-ADFF-4280-B6C3-066C6341D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51BCD72-C350-45DE-A806-71B42B577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8C8D860B-5ABB-4C55-8043-68CB8500841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961491-152E-47B4-939A-009EC00CFB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4000" b="1" u="none" cap="all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16C0524-F074-4195-9ABC-98B9DE1701F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sz="20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E8FA829-DDDE-4DF0-BE5F-C05B90E155E9}"/>
              </a:ext>
            </a:extLst>
          </p:cNvPr>
          <p:cNvSpPr>
            <a:spLocks xmlns:a="http://schemas.openxmlformats.org/drawingml/2006/main" noGrp="1"/>
          </p:cNvSpPr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86A44C-CCF3-4C02-A767-0AE0F7065A81}"/>
              </a:ext>
            </a:extLst>
          </p:cNvPr>
          <p:cNvSpPr>
            <a:spLocks xmlns:a="http://schemas.openxmlformats.org/drawingml/2006/main" noGrp="1"/>
          </p:cNvSpPr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B575852-B480-47B1-AF79-D344823E13F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AE19106-4133-4231-94FB-64473ACB2E5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type="twoObj" preserve="1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14DD276-B803-4018-91E0-6BB80ECF4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A342F0D-6E83-4C7E-BC83-B1FBDB4CD40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CFBB45A-9C1D-4EF6-B98A-7BF8BB6C719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671C9BC-98B0-4862-A610-93A68CF4EEC3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CBBAF7F-CBAB-41BA-9AAB-0F505B8FE1FF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784BFED-57F1-4653-971E-7CF94B264116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00A58784-66A9-47C0-9CF9-FDDB1C8BC581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680C123-FAA4-448A-8E22-53E10D920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CC5637D-13A3-4136-90D9-F6F6CD6DBDC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6AC343F-E878-406D-A471-FA1D781A459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125F616-3D28-43B6-ABEC-D237CB2CD02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87BF1A16-8608-4169-BE57-69C17805DA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41B7E583-6E2A-4252-ACFE-704DB359FB22}"/>
              </a:ext>
            </a:extLst>
          </p:cNvPr>
          <p:cNvSpPr>
            <a:spLocks xmlns:a="http://schemas.openxmlformats.org/drawingml/2006/main" noGrp="1"/>
          </p:cNvSpPr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7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5A0CAC17-B7AE-456F-A878-2AC74A583D11}"/>
              </a:ext>
            </a:extLst>
          </p:cNvPr>
          <p:cNvSpPr>
            <a:spLocks xmlns:a="http://schemas.openxmlformats.org/drawingml/2006/main" noGrp="1"/>
          </p:cNvSpPr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8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7DA26AF-F12C-49F1-B75B-09840EA8AF98}"/>
              </a:ext>
            </a:extLst>
          </p:cNvPr>
          <p:cNvSpPr>
            <a:spLocks xmlns:a="http://schemas.openxmlformats.org/drawingml/2006/main" noGrp="1"/>
          </p:cNvSpPr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35B3173-9225-43C2-B209-5B9A286072F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type="titleOnly" preserve="1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763E7A-8BDF-42FF-B600-BE66D1690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0771A9F-5E40-4573-9443-2E1F837034F5}"/>
              </a:ext>
            </a:extLst>
          </p:cNvPr>
          <p:cNvSpPr>
            <a:spLocks xmlns:a="http://schemas.openxmlformats.org/drawingml/2006/main" noGrp="1"/>
          </p:cNvSpPr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43924D9-BC3D-45AF-B5D7-5C4EC3730B0E}"/>
              </a:ext>
            </a:extLst>
          </p:cNvPr>
          <p:cNvSpPr>
            <a:spLocks xmlns:a="http://schemas.openxmlformats.org/drawingml/2006/main" noGrp="1"/>
          </p:cNvSpPr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D75C19-8865-496F-AD4D-BC0B9D7007B0}"/>
              </a:ext>
            </a:extLst>
          </p:cNvPr>
          <p:cNvSpPr>
            <a:spLocks xmlns:a="http://schemas.openxmlformats.org/drawingml/2006/main" noGrp="1"/>
          </p:cNvSpPr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1B541422-026A-41A2-BAA3-EBC9553034F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8E7E9AB-CCF8-494D-ABFF-C27AC1377C7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8EE9F77-FF91-4B8B-96EF-F856024B6530}"/>
              </a:ext>
            </a:extLst>
          </p:cNvPr>
          <p:cNvSpPr>
            <a:spLocks xmlns:a="http://schemas.openxmlformats.org/drawingml/2006/main" noGrp="1"/>
          </p:cNvSpPr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6DAC5DA-04CD-4738-B270-588C2F4099D9}"/>
              </a:ext>
            </a:extLst>
          </p:cNvPr>
          <p:cNvSpPr>
            <a:spLocks xmlns:a="http://schemas.openxmlformats.org/drawingml/2006/main" noGrp="1"/>
          </p:cNvSpPr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AA15843-A8B0-48E9-8A97-4117540375DF}"/>
              </a:ext>
            </a:extLst>
          </p:cNvPr>
          <p:cNvSpPr>
            <a:spLocks xmlns:a="http://schemas.openxmlformats.org/drawingml/2006/main" noGrp="1"/>
          </p:cNvSpPr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DBD564E-998E-4A3F-9B53-86B1A84650E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CC96145-5E18-442F-8206-8CCBE2596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8FCCA03-DC70-43F0-B211-D832220AB5D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0C6F7FF-79BE-46BA-A83C-A90E3D078A3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D490194-C936-4503-BD7F-114BFB17D8D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BF7F858-C3B5-46C4-A560-1F4AAAB55EDF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2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8ADE7F9-C0F9-4A6D-B40F-06A871881BE2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9DCBC23-3989-4AE8-8C0A-65784AA9C6E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0C4AF98-3128-411F-810B-BA781B94E9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A23D7E5-3E3C-43B6-81C3-F4192842F55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B590483-0173-4F5A-A9DB-A1697C5705D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FCDFBF4-C5D0-486D-ACE0-36AACB5416C5}"/>
              </a:ext>
            </a:extLst>
          </p:cNvPr>
          <p:cNvSpPr>
            <a:spLocks xmlns:a="http://schemas.openxmlformats.org/drawingml/2006/main" noGrp="1"/>
          </p:cNvSpPr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AB82F94-296D-4143-80A5-113DD2E90BCF}"/>
              </a:ext>
            </a:extLst>
          </p:cNvPr>
          <p:cNvSpPr>
            <a:spLocks xmlns:a="http://schemas.openxmlformats.org/drawingml/2006/main" noGrp="1"/>
          </p:cNvSpPr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A44C1D1-164F-4C15-8894-A44C7F4732EE}"/>
              </a:ext>
            </a:extLst>
          </p:cNvPr>
          <p:cNvSpPr>
            <a:spLocks xmlns:a="http://schemas.openxmlformats.org/drawingml/2006/main" noGrp="1"/>
          </p:cNvSpPr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98B274AD-299F-487E-9729-FFC20C074CAD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ad1f28263b4168" /><Relationship Type="http://schemas.openxmlformats.org/officeDocument/2006/relationships/slideLayout" Target="/ppt/slideLayouts/slideLayout1.xml" Id="R62f87b36fef6416b" /><Relationship Type="http://schemas.openxmlformats.org/officeDocument/2006/relationships/slideLayout" Target="/ppt/slideLayouts/slideLayout2.xml" Id="Rc4cd25f3daf54f4a" /><Relationship Type="http://schemas.openxmlformats.org/officeDocument/2006/relationships/slideLayout" Target="/ppt/slideLayouts/slideLayout3.xml" Id="R5bbc6de49a884299" /><Relationship Type="http://schemas.openxmlformats.org/officeDocument/2006/relationships/slideLayout" Target="/ppt/slideLayouts/slideLayout4.xml" Id="Re9f1425394f34951" /><Relationship Type="http://schemas.openxmlformats.org/officeDocument/2006/relationships/slideLayout" Target="/ppt/slideLayouts/slideLayout5.xml" Id="Ra7ed604cde7743bf" /><Relationship Type="http://schemas.openxmlformats.org/officeDocument/2006/relationships/slideLayout" Target="/ppt/slideLayouts/slideLayout6.xml" Id="R171c142947af4e12" /><Relationship Type="http://schemas.openxmlformats.org/officeDocument/2006/relationships/slideLayout" Target="/ppt/slideLayouts/slideLayout7.xml" Id="R5ba67c35d22e4dfa" /><Relationship Type="http://schemas.openxmlformats.org/officeDocument/2006/relationships/slideLayout" Target="/ppt/slideLayouts/slideLayout8.xml" Id="R445be5b39fd5409b" /><Relationship Type="http://schemas.openxmlformats.org/officeDocument/2006/relationships/slideLayout" Target="/ppt/slideLayouts/slideLayout9.xml" Id="R3347ad588d80473b" /><Relationship Type="http://schemas.openxmlformats.org/officeDocument/2006/relationships/slideLayout" Target="/ppt/slideLayouts/slideLayout10.xml" Id="R0c49642d028641a5" /><Relationship Type="http://schemas.openxmlformats.org/officeDocument/2006/relationships/slideLayout" Target="/ppt/slideLayouts/slideLayout11.xml" Id="R1a0587eab43948c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f87b36fef6416b"/>
    <p:sldLayoutId xmlns:r="http://schemas.openxmlformats.org/officeDocument/2006/relationships" id="2147483650" r:id="Rc4cd25f3daf54f4a"/>
    <p:sldLayoutId xmlns:r="http://schemas.openxmlformats.org/officeDocument/2006/relationships" id="2147483651" r:id="R5bbc6de49a884299"/>
    <p:sldLayoutId xmlns:r="http://schemas.openxmlformats.org/officeDocument/2006/relationships" id="2147483652" r:id="Re9f1425394f34951"/>
    <p:sldLayoutId xmlns:r="http://schemas.openxmlformats.org/officeDocument/2006/relationships" id="2147483653" r:id="Ra7ed604cde7743bf"/>
    <p:sldLayoutId xmlns:r="http://schemas.openxmlformats.org/officeDocument/2006/relationships" id="2147483654" r:id="R171c142947af4e12"/>
    <p:sldLayoutId xmlns:r="http://schemas.openxmlformats.org/officeDocument/2006/relationships" id="2147483655" r:id="R5ba67c35d22e4dfa"/>
    <p:sldLayoutId xmlns:r="http://schemas.openxmlformats.org/officeDocument/2006/relationships" id="2147483656" r:id="R445be5b39fd5409b"/>
    <p:sldLayoutId xmlns:r="http://schemas.openxmlformats.org/officeDocument/2006/relationships" id="2147483657" r:id="R3347ad588d80473b"/>
    <p:sldLayoutId xmlns:r="http://schemas.openxmlformats.org/officeDocument/2006/relationships" id="2147483658" r:id="R0c49642d028641a5"/>
    <p:sldLayoutId xmlns:r="http://schemas.openxmlformats.org/officeDocument/2006/relationships" id="2147483659" r:id="R1a0587eab43948c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3d9e29ad74551" /><Relationship Type="http://schemas.openxmlformats.org/officeDocument/2006/relationships/notesSlide" Target="/ppt/notesSlides/notesSlide1.xml" Id="Rd8b5b671931843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0216194d2fa49f8" /><Relationship Type="http://schemas.openxmlformats.org/officeDocument/2006/relationships/notesSlide" Target="/ppt/notesSlides/notesSlide2.xml" Id="Rdabccc9436a24f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e19c76a01064a79" /><Relationship Type="http://schemas.openxmlformats.org/officeDocument/2006/relationships/notesSlide" Target="/ppt/notesSlides/notesSlide3.xml" Id="R62276ae73f7e4128" /></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c9034e09653a45d3" /><ns0:Relationship Type="http://schemas.openxmlformats.org/officeDocument/2006/relationships/chart" Target="/ppt/slides/charts/chart1.xml" Id="Rfadd2ec3d2154f88" /><ns0:Relationship Type="http://schemas.openxmlformats.org/officeDocument/2006/relationships/notesSlide" Target="/ppt/notesSlides/notesSlide4.xml" Id="R87881b36d51a49ad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c9844150aac646e8" /><ns0:Relationship Type="http://schemas.openxmlformats.org/officeDocument/2006/relationships/chart" Target="/ppt/slides/charts/chart2.xml" Id="R8c303e39f5214024" /><ns0:Relationship Type="http://schemas.openxmlformats.org/officeDocument/2006/relationships/notesSlide" Target="/ppt/notesSlides/notesSlide5.xml" Id="Re63ab3d05e734d81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9af8ca4230ea4281" /><ns0:Relationship Type="http://schemas.openxmlformats.org/officeDocument/2006/relationships/chart" Target="/ppt/slides/charts/chart3.xml" Id="R49f36148a9104bfa" /><ns0:Relationship Type="http://schemas.openxmlformats.org/officeDocument/2006/relationships/notesSlide" Target="/ppt/notesSlides/notesSlide6.xml" Id="R26f93e572fe1452c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4392101f6c334887" /><ns0:Relationship Type="http://schemas.openxmlformats.org/officeDocument/2006/relationships/chart" Target="/ppt/slides/charts/chart4.xml" Id="R012aa23211094245" /><ns0:Relationship Type="http://schemas.openxmlformats.org/officeDocument/2006/relationships/notesSlide" Target="/ppt/notesSlides/notesSlide7.xml" Id="R321e364d4c4044d4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6b65b3b995cc46a8" /><ns0:Relationship Type="http://schemas.openxmlformats.org/officeDocument/2006/relationships/chart" Target="/ppt/slides/charts/chart5.xml" Id="R260bb3c1307744be" /><ns0:Relationship Type="http://schemas.openxmlformats.org/officeDocument/2006/relationships/notesSlide" Target="/ppt/notesSlides/notesSlide8.xml" Id="Rc9dd1e9ae443458d" /></ns0: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64aea02e7014276" /><Relationship Type="http://schemas.openxmlformats.org/officeDocument/2006/relationships/notesSlide" Target="/ppt/notesSlides/notesSlide9.xml" Id="R9e2c4a1720c342d1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ROC-AUC</c:v>
          </c:tx>
          <c:spPr>
            <a:solidFill xmlns:a="http://schemas.openxmlformats.org/drawingml/2006/main">
              <a:srgbClr val="1C718C"/>
            </a:solidFill>
          </c:spPr>
          <c:cat>
            <c:strLit>
              <c:ptCount val="3"/>
              <c:pt idx="0">
                <c:v>Regresión logística</c:v>
              </c:pt>
              <c:pt idx="1">
                <c:v>Random Forest</c:v>
              </c:pt>
              <c:pt idx="2">
                <c:v>Red neuronal MLP</c:v>
              </c:pt>
            </c:strLit>
          </c:cat>
          <c:val>
            <c:numLit>
              <c:formatCode>0.000</c:formatCode>
              <c:ptCount val="3"/>
              <c:pt idx="0">
                <c:v>0.8187228</c:v>
              </c:pt>
              <c:pt idx="1">
                <c:v>0.8099931</c:v>
              </c:pt>
              <c:pt idx="2">
                <c:v>0.768415</c:v>
              </c:pt>
            </c:numLit>
          </c:val>
        </c:ser>
        <c:ser>
          <c:idx val="1"/>
          <c:order val="1"/>
          <c:tx>
            <c:v>PR-AUC</c:v>
          </c:tx>
          <c:spPr>
            <a:solidFill xmlns:a="http://schemas.openxmlformats.org/drawingml/2006/main">
              <a:srgbClr val="62C6C0"/>
            </a:solidFill>
          </c:spPr>
          <c:cat>
            <c:strLit>
              <c:ptCount val="3"/>
              <c:pt idx="0">
                <c:v>Regresión logística</c:v>
              </c:pt>
              <c:pt idx="1">
                <c:v>Random Forest</c:v>
              </c:pt>
              <c:pt idx="2">
                <c:v>Red neuronal MLP</c:v>
              </c:pt>
            </c:strLit>
          </c:cat>
          <c:val>
            <c:numLit>
              <c:formatCode>0.000</c:formatCode>
              <c:ptCount val="3"/>
              <c:pt idx="0">
                <c:v>0.5524991</c:v>
              </c:pt>
              <c:pt idx="1">
                <c:v>0.5323894</c:v>
              </c:pt>
              <c:pt idx="2">
                <c:v>0.4839745</c:v>
              </c:pt>
            </c:numLit>
          </c:val>
        </c:ser>
        <c:ser>
          <c:idx val="2"/>
          <c:order val="2"/>
          <c:tx>
            <c:v>F1 ajustado</c:v>
          </c:tx>
          <c:spPr>
            <a:solidFill xmlns:a="http://schemas.openxmlformats.org/drawingml/2006/main">
              <a:srgbClr val="DDAA1C"/>
            </a:solidFill>
          </c:spPr>
          <c:cat>
            <c:strLit>
              <c:ptCount val="3"/>
              <c:pt idx="0">
                <c:v>Regresión logística</c:v>
              </c:pt>
              <c:pt idx="1">
                <c:v>Random Forest</c:v>
              </c:pt>
              <c:pt idx="2">
                <c:v>Red neuronal MLP</c:v>
              </c:pt>
            </c:strLit>
          </c:cat>
          <c:val>
            <c:numLit>
              <c:formatCode>0.000</c:formatCode>
              <c:ptCount val="3"/>
              <c:pt idx="0">
                <c:v>0.5333333</c:v>
              </c:pt>
              <c:pt idx="1">
                <c:v>0.5441696</c:v>
              </c:pt>
              <c:pt idx="2">
                <c:v>0.4701349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Valor de la métrica</a:t>
                </a:r>
              </a:p>
            </c:rich>
          </c:tx>
          <c:overlay val="0"/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203248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puntuaciones</c:v>
          </c:tx>
          <c:spPr>
            <a:solidFill xmlns:a="http://schemas.openxmlformats.org/drawingml/2006/main">
              <a:srgbClr val="3479A5"/>
            </a:solidFill>
          </c:spPr>
          <c:cat>
            <c:strLit>
              <c:ptCount val="10"/>
              <c:pt idx="0">
                <c:v>0,00-0,10</c:v>
              </c:pt>
              <c:pt idx="1">
                <c:v>0,10-0,20</c:v>
              </c:pt>
              <c:pt idx="2">
                <c:v>0,20-0,30</c:v>
              </c:pt>
              <c:pt idx="3">
                <c:v>0,30-0,40</c:v>
              </c:pt>
              <c:pt idx="4">
                <c:v>0,40-0,50</c:v>
              </c:pt>
              <c:pt idx="5">
                <c:v>0,50-0,60</c:v>
              </c:pt>
              <c:pt idx="6">
                <c:v>0,60-0,70</c:v>
              </c:pt>
              <c:pt idx="7">
                <c:v>0,70-0,80</c:v>
              </c:pt>
              <c:pt idx="8">
                <c:v>0,80-0,90</c:v>
              </c:pt>
              <c:pt idx="9">
                <c:v>0,90-1,00</c:v>
              </c:pt>
            </c:strLit>
          </c:cat>
          <c:val>
            <c:numLit>
              <c:formatCode>General</c:formatCode>
              <c:ptCount val="10"/>
              <c:pt idx="0">
                <c:v>387</c:v>
              </c:pt>
              <c:pt idx="1">
                <c:v>229</c:v>
              </c:pt>
              <c:pt idx="2">
                <c:v>157</c:v>
              </c:pt>
              <c:pt idx="3">
                <c:v>114</c:v>
              </c:pt>
              <c:pt idx="4">
                <c:v>123</c:v>
              </c:pt>
              <c:pt idx="5">
                <c:v>103</c:v>
              </c:pt>
              <c:pt idx="6">
                <c:v>90</c:v>
              </c:pt>
              <c:pt idx="7">
                <c:v>114</c:v>
              </c:pt>
              <c:pt idx="8">
                <c:v>90</c:v>
              </c:pt>
              <c:pt idx="9">
                <c:v>63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Número de casos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Tasa de rotación observada (%)</c:v>
          </c:tx>
          <c:spPr>
            <a:solidFill xmlns:a="http://schemas.openxmlformats.org/drawingml/2006/main">
              <a:srgbClr val="4B9B8F"/>
            </a:solidFill>
          </c:spPr>
          <c:cat>
            <c:strLit>
              <c:ptCount val="3"/>
              <c:pt idx="0">
                <c:v>Ventas</c:v>
              </c:pt>
              <c:pt idx="1">
                <c:v>Recursos Humanos</c:v>
              </c:pt>
              <c:pt idx="2">
                <c:v>Investigación y Desarrollo</c:v>
              </c:pt>
            </c:strLit>
          </c:cat>
          <c:val>
            <c:numLit>
              <c:formatCode>0.0"%"</c:formatCode>
              <c:ptCount val="3"/>
              <c:pt idx="0">
                <c:v>20.6</c:v>
              </c:pt>
              <c:pt idx="1">
                <c:v>19</c:v>
              </c:pt>
              <c:pt idx="2">
                <c:v>13.8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Tasa observada (%)</a:t>
                </a:r>
              </a:p>
            </c:rich>
          </c:tx>
          <c:overlay val="0"/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Tasa de rotación observada (%)</c:v>
          </c:tx>
          <c:spPr>
            <a:solidFill xmlns:a="http://schemas.openxmlformats.org/drawingml/2006/main">
              <a:srgbClr val="D97867"/>
            </a:solidFill>
          </c:spPr>
          <c:cat>
            <c:strLit>
              <c:ptCount val="2"/>
              <c:pt idx="0">
                <c:v>Sin horas extra</c:v>
              </c:pt>
              <c:pt idx="1">
                <c:v>Con horas extra</c:v>
              </c:pt>
            </c:strLit>
          </c:cat>
          <c:val>
            <c:numLit>
              <c:formatCode>0.0"%"</c:formatCode>
              <c:ptCount val="2"/>
              <c:pt idx="0">
                <c:v>10.4</c:v>
              </c:pt>
              <c:pt idx="1">
                <c:v>30.5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Tasa observada (%)</a:t>
                </a:r>
              </a:p>
            </c:rich>
          </c:tx>
          <c:overlay val="0"/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Magnitud absoluta del coeficiente</c:v>
          </c:tx>
          <c:spPr>
            <a:solidFill xmlns:a="http://schemas.openxmlformats.org/drawingml/2006/main">
              <a:srgbClr val="1C718C"/>
            </a:solidFill>
          </c:spPr>
          <c:cat>
            <c:strLit>
              <c:ptCount val="10"/>
              <c:pt idx="0">
                <c:v>Director/a de investigación (−)</c:v>
              </c:pt>
              <c:pt idx="1">
                <c:v>Representante de ventas (+)</c:v>
              </c:pt>
              <c:pt idx="2">
                <c:v>Viajes frecuentes (+)</c:v>
              </c:pt>
              <c:pt idx="3">
                <c:v>Sin viajes de trabajo (−)</c:v>
              </c:pt>
              <c:pt idx="4">
                <c:v>Técnico de laboratorio (+)</c:v>
              </c:pt>
              <c:pt idx="5">
                <c:v>Puesto en Recursos Humanos (+)</c:v>
              </c:pt>
              <c:pt idx="6">
                <c:v>Años en la empresa (+)</c:v>
              </c:pt>
              <c:pt idx="7">
                <c:v>Estado civil: soltero/a (+)</c:v>
              </c:pt>
              <c:pt idx="8">
                <c:v>Formación técnica (+)</c:v>
              </c:pt>
              <c:pt idx="9">
                <c:v>Representante sanitario (−)</c:v>
              </c:pt>
            </c:strLit>
          </c:cat>
          <c:val>
            <c:numLit>
              <c:formatCode>0.00</c:formatCode>
              <c:ptCount val="10"/>
              <c:pt idx="0">
                <c:v>1.1213311205615677</c:v>
              </c:pt>
              <c:pt idx="1">
                <c:v>1.069968285893788</c:v>
              </c:pt>
              <c:pt idx="2">
                <c:v>0.8561488203338481</c:v>
              </c:pt>
              <c:pt idx="3">
                <c:v>0.849797629575816</c:v>
              </c:pt>
              <c:pt idx="4">
                <c:v>0.820042</c:v>
              </c:pt>
              <c:pt idx="5">
                <c:v>0.783635</c:v>
              </c:pt>
              <c:pt idx="6">
                <c:v>0.768481</c:v>
              </c:pt>
              <c:pt idx="7">
                <c:v>0.739248</c:v>
              </c:pt>
              <c:pt idx="8">
                <c:v>0.697052</c:v>
              </c:pt>
              <c:pt idx="9">
                <c:v>0.645812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Magnitud absoluta del coeficiente</a:t>
                </a:r>
              </a:p>
            </c:rich>
          </c:tx>
          <c:overlay val="0"/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23A367D-FD84-49F8-AF2D-0779481DBA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Predicción de rotación de empleados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C53B876-F98F-455F-8CFD-759CAEFF3F88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1371600" y="3886200"/>
            <a:ext cx="6400440" cy="175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3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Proyecto educativo · Big Data · PySpark · aprendizaje automático · Power BI</a:t>
            </a: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92507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A80CDC-29D0-442F-8406-74BEDDE2A9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Alcance del proyecto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51A14-C962-45F2-863E-8C30FDD9AA8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Clasificación de Attrition y preparación de datos con PySpark.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de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Validación cruzada estratificada en cinco particiones.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Lectura de métricas y puntuaciones por departamento y variables laborales.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Recomendaciones para priorizar diagnósticos y acciones de retención.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11130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AB6FCB5-5C27-4A40-86A2-B59AFB49E5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Proceso de análisis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842B893-A08C-465F-AA27-8DC6A08487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Comprobar la calidad de claves y datos de entrada.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Generar la encuesta con semilla fija e integrarla mediante EmployeeNumber.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Crear la etiqueta de rotación y las variables derivadas con PySpark.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Entrenar tres modelos con variables numéricas y categóricas.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Relacionar métricas, tasas y puntuaciones con prioridades por área.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437533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71" name="PlaceHolder 1">
            <a:extLst>
              <a:ext uri="{FF2B5EF4-FFF2-40B4-BE49-F238E27FC236}">
                <ns2:creationId id="{65E0130A-3CA4-4060-A9FD-904D0A35ECF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620000" y="1173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de los modelos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TextBox 3">
            <a:extLst>
              <a:ext uri="{FF2B5EF4-FFF2-40B4-BE49-F238E27FC236}">
                <ns2:creationId id="{D179EA43-F748-45D7-9F30-071F40E196A0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La gráfica compara ROC-AUC, PR-AUC y F1: Regresión Logística lidera ROC/PR; Random Forest, F1.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Fondo gráfico 4">
            <a:extLst>
              <a:ext uri="{FF2B5EF4-FFF2-40B4-BE49-F238E27FC236}">
                <ns2:creationId id="{531909E2-0426-4DFE-AFD7-AAA0EA1C435C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81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fadd2ec3d2154f88"/>
          </a:graphicData>
        </a:graphic>
      </p:graphicFrame>
    </p:spTree>
    <p:extLst>
      <p:ext uri="{BB962C8B-B14F-4D97-AF65-F5344CB8AC3E}">
        <ns5:creationId val="150715245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74" name="PlaceHolder 1">
            <a:extLst>
              <a:ext uri="{FF2B5EF4-FFF2-40B4-BE49-F238E27FC236}">
                <ns2:creationId id="{2D52C905-F951-4F11-BF40-C3409FEC2BF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07960" y="131400"/>
            <a:ext cx="11242800" cy="12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Distribución de puntuaciones predichas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6" name="TextBox 3">
            <a:extLst>
              <a:ext uri="{FF2B5EF4-FFF2-40B4-BE49-F238E27FC236}">
                <ns2:creationId id="{D89E5E77-4B58-410D-B4A2-D67E59D88B59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Las 1.470 puntuaciones OOF se agrupan en intervalos de 0,10; 773 quedan por debajo de 0,30.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Fondo gráfico 5">
            <a:extLst>
              <a:ext uri="{FF2B5EF4-FFF2-40B4-BE49-F238E27FC236}">
                <ns2:creationId id="{159EFCAB-93CF-4983-AD99-0D5D834EFD96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84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8c303e39f5214024"/>
          </a:graphicData>
        </a:graphic>
      </p:graphicFrame>
    </p:spTree>
    <p:extLst>
      <p:ext uri="{BB962C8B-B14F-4D97-AF65-F5344CB8AC3E}">
        <ns5:creationId val="303505656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77" name="PlaceHolder 1">
            <a:extLst>
              <a:ext uri="{FF2B5EF4-FFF2-40B4-BE49-F238E27FC236}">
                <ns2:creationId id="{68DF6AE7-B196-4300-BDC9-E0722C6EA25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37200" y="180000"/>
            <a:ext cx="1052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por departamento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TextBox 3">
            <a:extLst>
              <a:ext uri="{FF2B5EF4-FFF2-40B4-BE49-F238E27FC236}">
                <ns2:creationId id="{8BD09EE3-65E6-4BF7-8BB4-A3EB9FD7A8CC}"/>
              </a:ext>
            </a:extLst>
          </p:cNvPr>
          <p:cNvSpPr>
            <a:spLocks noGrp="1"/>
          </p:cNvSpPr>
          <p:nvPr/>
        </p:nvSpPr>
        <p:spPr>
          <a:xfrm>
            <a:off x="36000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Ventas registra 20,6 % (92/446), RR. HH. 19,0 % (12/63) e I+D 13,8 % (133/961).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Fondo gráfico 6">
            <a:extLst>
              <a:ext uri="{FF2B5EF4-FFF2-40B4-BE49-F238E27FC236}">
                <ns2:creationId id="{00442256-553E-4777-B321-F210439A2046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87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49f36148a9104bfa"/>
          </a:graphicData>
        </a:graphic>
      </p:graphicFrame>
    </p:spTree>
    <p:extLst>
      <p:ext uri="{BB962C8B-B14F-4D97-AF65-F5344CB8AC3E}">
        <ns5:creationId val="167269102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80" name="PlaceHolder 1">
            <a:extLst>
              <a:ext uri="{FF2B5EF4-FFF2-40B4-BE49-F238E27FC236}">
                <ns2:creationId id="{34C86444-1BAA-4375-A625-51721868B14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457200" y="180000"/>
            <a:ext cx="1124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y horas extra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TextBox 3">
            <a:extLst>
              <a:ext uri="{FF2B5EF4-FFF2-40B4-BE49-F238E27FC236}">
                <ns2:creationId id="{3DBC67BC-AB62-47CE-B97D-EBE84C4AEF3A}"/>
              </a:ext>
            </a:extLst>
          </p:cNvPr>
          <p:cNvSpPr>
            <a:spLocks noGrp="1"/>
          </p:cNvSpPr>
          <p:nvPr/>
        </p:nvSpPr>
        <p:spPr>
          <a:xfrm>
            <a:off x="26388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observada: 30,5 % con horas extra (127/416) y 10,4 % sin ellas (110/1.054).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Fondo gráfico 7">
            <a:extLst>
              <a:ext uri="{FF2B5EF4-FFF2-40B4-BE49-F238E27FC236}">
                <ns2:creationId id="{070F6796-76D7-4070-820D-83D2D0095841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90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012aa23211094245"/>
          </a:graphicData>
        </a:graphic>
      </p:graphicFrame>
    </p:spTree>
    <p:extLst>
      <p:ext uri="{BB962C8B-B14F-4D97-AF65-F5344CB8AC3E}">
        <ns5:creationId val="1461787212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83" name="PlaceHolder 1">
            <a:extLst>
              <a:ext uri="{FF2B5EF4-FFF2-40B4-BE49-F238E27FC236}">
                <ns2:creationId id="{485DE502-EFBA-44FD-BADB-C6C6814362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817200" y="0"/>
            <a:ext cx="11062800" cy="98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Coeficientes de la regresión logística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5" name="TextBox 3">
            <a:extLst>
              <a:ext uri="{FF2B5EF4-FFF2-40B4-BE49-F238E27FC236}">
                <ns2:creationId id="{AF3E641E-B559-4B63-B439-358EDFBBC910}"/>
              </a:ext>
            </a:extLst>
          </p:cNvPr>
          <p:cNvSpPr>
            <a:spLocks noGrp="1"/>
          </p:cNvSpPr>
          <p:nvPr/>
        </p:nvSpPr>
        <p:spPr>
          <a:xfrm>
            <a:off x="30204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Representante de ventas (+1,070) y viajes frecuentes (+0,856) destacan entre las señales asociadas del modelo.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Fondo gráfico 8">
            <a:extLst>
              <a:ext uri="{FF2B5EF4-FFF2-40B4-BE49-F238E27FC236}">
                <ns2:creationId id="{09819C8A-8FE9-4AF3-8A81-CA1D404C8F58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93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260bb3c1307744be"/>
          </a:graphicData>
        </a:graphic>
      </p:graphicFrame>
    </p:spTree>
    <p:extLst>
      <p:ext uri="{BB962C8B-B14F-4D97-AF65-F5344CB8AC3E}">
        <ns5:creationId val="782406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F62F03-CE33-4FE9-9DF1-F95A7525F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Conclusiones y prioridades para dirección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0B9206-BCA7-49C5-B770-F20910E47C4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Regresión Logística: ROC/PR 0,819/0,552; Random Forest, F1 0,544.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Ventas: 20,6 % (92/446), 104 señales. Revisar viajes, objetivos y carga.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I+D: 115 señales y 133 salidas; priorizar equipos y puestos.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Horas extra: 30,5 % vs. 10,4 %. Revisar turnos y carga.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RR. HH.: 19 % (12/63), 9 señales. Medir antes y después.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8397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2026-10-04T19:39:56.6000000Z</dcterms:created>
  <dcterms:modified xsi:type="dcterms:W3CDTF">2026-10-04T19:39:56.6000000Z</dcterms:modified>
</coreProperties>
</file>